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4"/>
  </p:sldMasterIdLst>
  <p:notesMasterIdLst>
    <p:notesMasterId r:id="rId18"/>
  </p:notesMasterIdLst>
  <p:sldIdLst>
    <p:sldId id="256" r:id="rId5"/>
    <p:sldId id="264" r:id="rId6"/>
    <p:sldId id="257" r:id="rId7"/>
    <p:sldId id="265" r:id="rId8"/>
    <p:sldId id="258" r:id="rId9"/>
    <p:sldId id="266" r:id="rId10"/>
    <p:sldId id="259" r:id="rId11"/>
    <p:sldId id="267" r:id="rId12"/>
    <p:sldId id="260" r:id="rId13"/>
    <p:sldId id="268" r:id="rId14"/>
    <p:sldId id="261" r:id="rId15"/>
    <p:sldId id="262" r:id="rId16"/>
    <p:sldId id="26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DE9714-50ED-4C7B-93D7-21BD394B0974}" v="49" dt="2025-10-01T12:08:05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6C5BA1-439B-495D-BEDD-898357EB987B}" type="doc">
      <dgm:prSet loTypeId="urn:microsoft.com/office/officeart/2008/layout/LinedList" loCatId="list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30359266-6EF0-400C-A54E-A20383CBD7D9}">
      <dgm:prSet/>
      <dgm:spPr/>
      <dgm:t>
        <a:bodyPr/>
        <a:lstStyle/>
        <a:p>
          <a:r>
            <a:rPr lang="en-ZA" dirty="0"/>
            <a:t>Main challenge: space constraints limiting product display and navigation</a:t>
          </a:r>
          <a:endParaRPr lang="en-US" dirty="0"/>
        </a:p>
      </dgm:t>
    </dgm:pt>
    <dgm:pt modelId="{867307D4-0115-4E12-A332-6359240F81F1}" type="parTrans" cxnId="{058CD456-4646-44F4-8897-C52158D3DDF3}">
      <dgm:prSet/>
      <dgm:spPr/>
      <dgm:t>
        <a:bodyPr/>
        <a:lstStyle/>
        <a:p>
          <a:endParaRPr lang="en-US"/>
        </a:p>
      </dgm:t>
    </dgm:pt>
    <dgm:pt modelId="{5C4EA914-8888-4783-8D50-4B0AAA6E37FA}" type="sibTrans" cxnId="{058CD456-4646-44F4-8897-C52158D3DDF3}">
      <dgm:prSet/>
      <dgm:spPr/>
      <dgm:t>
        <a:bodyPr/>
        <a:lstStyle/>
        <a:p>
          <a:endParaRPr lang="en-US"/>
        </a:p>
      </dgm:t>
    </dgm:pt>
    <dgm:pt modelId="{9B444E87-375C-48B2-8919-51424CB9E45E}">
      <dgm:prSet/>
      <dgm:spPr/>
      <dgm:t>
        <a:bodyPr/>
        <a:lstStyle/>
        <a:p>
          <a:r>
            <a:rPr lang="en-ZA"/>
            <a:t>• Kids wear sales performing well and remain a growth driver</a:t>
          </a:r>
          <a:endParaRPr lang="en-US"/>
        </a:p>
      </dgm:t>
    </dgm:pt>
    <dgm:pt modelId="{1C1FB045-3730-4BEF-9869-47B399E03535}" type="parTrans" cxnId="{B69B2F4C-0C12-4A4C-8FFF-9EE39BC020CB}">
      <dgm:prSet/>
      <dgm:spPr/>
      <dgm:t>
        <a:bodyPr/>
        <a:lstStyle/>
        <a:p>
          <a:endParaRPr lang="en-US"/>
        </a:p>
      </dgm:t>
    </dgm:pt>
    <dgm:pt modelId="{FA43E046-AC6C-43CD-A161-486206EB2945}" type="sibTrans" cxnId="{B69B2F4C-0C12-4A4C-8FFF-9EE39BC020CB}">
      <dgm:prSet/>
      <dgm:spPr/>
      <dgm:t>
        <a:bodyPr/>
        <a:lstStyle/>
        <a:p>
          <a:endParaRPr lang="en-US"/>
        </a:p>
      </dgm:t>
    </dgm:pt>
    <dgm:pt modelId="{24541598-5B01-4FA1-A9F6-7AD2C8F8014F}">
      <dgm:prSet/>
      <dgm:spPr/>
      <dgm:t>
        <a:bodyPr/>
        <a:lstStyle/>
        <a:p>
          <a:r>
            <a:rPr lang="en-ZA"/>
            <a:t>• Staff highlighted the need for improved layout to ease congestion during peak times</a:t>
          </a:r>
          <a:endParaRPr lang="en-US"/>
        </a:p>
      </dgm:t>
    </dgm:pt>
    <dgm:pt modelId="{51995B5E-A28F-4454-A956-68F5D0B62257}" type="parTrans" cxnId="{0CF19E09-370F-4E6B-BEE7-33EE1552829F}">
      <dgm:prSet/>
      <dgm:spPr/>
      <dgm:t>
        <a:bodyPr/>
        <a:lstStyle/>
        <a:p>
          <a:endParaRPr lang="en-US"/>
        </a:p>
      </dgm:t>
    </dgm:pt>
    <dgm:pt modelId="{75CB7D15-171D-4CFC-9175-F84569C67AB1}" type="sibTrans" cxnId="{0CF19E09-370F-4E6B-BEE7-33EE1552829F}">
      <dgm:prSet/>
      <dgm:spPr/>
      <dgm:t>
        <a:bodyPr/>
        <a:lstStyle/>
        <a:p>
          <a:endParaRPr lang="en-US"/>
        </a:p>
      </dgm:t>
    </dgm:pt>
    <dgm:pt modelId="{52EEC604-6ABD-4AF5-B53D-69AFD44E8FFD}">
      <dgm:prSet/>
      <dgm:spPr/>
      <dgm:t>
        <a:bodyPr/>
        <a:lstStyle/>
        <a:p>
          <a:r>
            <a:rPr lang="en-ZA"/>
            <a:t>• Opportunity: explore layout optimization or relocation of slower-moving categories</a:t>
          </a:r>
          <a:endParaRPr lang="en-US"/>
        </a:p>
      </dgm:t>
    </dgm:pt>
    <dgm:pt modelId="{C6766750-3D3C-4410-9A7D-6B99F6B570BB}" type="parTrans" cxnId="{B1519632-F7DD-41D9-9CFA-1F7548916AFA}">
      <dgm:prSet/>
      <dgm:spPr/>
      <dgm:t>
        <a:bodyPr/>
        <a:lstStyle/>
        <a:p>
          <a:endParaRPr lang="en-US"/>
        </a:p>
      </dgm:t>
    </dgm:pt>
    <dgm:pt modelId="{44604C85-FEB2-42F6-825F-20F572FCC84D}" type="sibTrans" cxnId="{B1519632-F7DD-41D9-9CFA-1F7548916AFA}">
      <dgm:prSet/>
      <dgm:spPr/>
      <dgm:t>
        <a:bodyPr/>
        <a:lstStyle/>
        <a:p>
          <a:endParaRPr lang="en-US"/>
        </a:p>
      </dgm:t>
    </dgm:pt>
    <dgm:pt modelId="{F2B8FC8A-90EC-407B-912F-0B09EC28DC78}" type="pres">
      <dgm:prSet presAssocID="{576C5BA1-439B-495D-BEDD-898357EB987B}" presName="vert0" presStyleCnt="0">
        <dgm:presLayoutVars>
          <dgm:dir/>
          <dgm:animOne val="branch"/>
          <dgm:animLvl val="lvl"/>
        </dgm:presLayoutVars>
      </dgm:prSet>
      <dgm:spPr/>
    </dgm:pt>
    <dgm:pt modelId="{E0ED325D-F156-4014-B2B4-33CE112A3032}" type="pres">
      <dgm:prSet presAssocID="{30359266-6EF0-400C-A54E-A20383CBD7D9}" presName="thickLine" presStyleLbl="alignNode1" presStyleIdx="0" presStyleCnt="4"/>
      <dgm:spPr/>
    </dgm:pt>
    <dgm:pt modelId="{E894B1CB-A14E-4419-B032-6681D4677322}" type="pres">
      <dgm:prSet presAssocID="{30359266-6EF0-400C-A54E-A20383CBD7D9}" presName="horz1" presStyleCnt="0"/>
      <dgm:spPr/>
    </dgm:pt>
    <dgm:pt modelId="{CD2D296C-5961-4185-8783-B1B5F92D478B}" type="pres">
      <dgm:prSet presAssocID="{30359266-6EF0-400C-A54E-A20383CBD7D9}" presName="tx1" presStyleLbl="revTx" presStyleIdx="0" presStyleCnt="4"/>
      <dgm:spPr/>
    </dgm:pt>
    <dgm:pt modelId="{646F5369-DE7D-42ED-981F-7FAAE6A8B37D}" type="pres">
      <dgm:prSet presAssocID="{30359266-6EF0-400C-A54E-A20383CBD7D9}" presName="vert1" presStyleCnt="0"/>
      <dgm:spPr/>
    </dgm:pt>
    <dgm:pt modelId="{1542B4D7-280F-4FE6-8495-3BB0308E09B6}" type="pres">
      <dgm:prSet presAssocID="{9B444E87-375C-48B2-8919-51424CB9E45E}" presName="thickLine" presStyleLbl="alignNode1" presStyleIdx="1" presStyleCnt="4"/>
      <dgm:spPr/>
    </dgm:pt>
    <dgm:pt modelId="{1660874F-2410-4F5C-9FC8-4C4BAA4122E7}" type="pres">
      <dgm:prSet presAssocID="{9B444E87-375C-48B2-8919-51424CB9E45E}" presName="horz1" presStyleCnt="0"/>
      <dgm:spPr/>
    </dgm:pt>
    <dgm:pt modelId="{B808979A-9505-4C6F-BC8A-C7293383DC44}" type="pres">
      <dgm:prSet presAssocID="{9B444E87-375C-48B2-8919-51424CB9E45E}" presName="tx1" presStyleLbl="revTx" presStyleIdx="1" presStyleCnt="4"/>
      <dgm:spPr/>
    </dgm:pt>
    <dgm:pt modelId="{21E28B1B-F3B3-45E2-8FAD-EEF1C56E1AFF}" type="pres">
      <dgm:prSet presAssocID="{9B444E87-375C-48B2-8919-51424CB9E45E}" presName="vert1" presStyleCnt="0"/>
      <dgm:spPr/>
    </dgm:pt>
    <dgm:pt modelId="{DADA3D68-7A97-46AF-871A-457C27564565}" type="pres">
      <dgm:prSet presAssocID="{24541598-5B01-4FA1-A9F6-7AD2C8F8014F}" presName="thickLine" presStyleLbl="alignNode1" presStyleIdx="2" presStyleCnt="4"/>
      <dgm:spPr/>
    </dgm:pt>
    <dgm:pt modelId="{5737F500-1857-4072-A52F-4F57C5B594AF}" type="pres">
      <dgm:prSet presAssocID="{24541598-5B01-4FA1-A9F6-7AD2C8F8014F}" presName="horz1" presStyleCnt="0"/>
      <dgm:spPr/>
    </dgm:pt>
    <dgm:pt modelId="{746A3461-1F07-4275-B8FE-BD06E6CC5201}" type="pres">
      <dgm:prSet presAssocID="{24541598-5B01-4FA1-A9F6-7AD2C8F8014F}" presName="tx1" presStyleLbl="revTx" presStyleIdx="2" presStyleCnt="4"/>
      <dgm:spPr/>
    </dgm:pt>
    <dgm:pt modelId="{B6104A93-FDD5-450A-84A6-201C79007C87}" type="pres">
      <dgm:prSet presAssocID="{24541598-5B01-4FA1-A9F6-7AD2C8F8014F}" presName="vert1" presStyleCnt="0"/>
      <dgm:spPr/>
    </dgm:pt>
    <dgm:pt modelId="{89AA96A6-79B7-41A3-B54D-3A4661DCD9B5}" type="pres">
      <dgm:prSet presAssocID="{52EEC604-6ABD-4AF5-B53D-69AFD44E8FFD}" presName="thickLine" presStyleLbl="alignNode1" presStyleIdx="3" presStyleCnt="4"/>
      <dgm:spPr/>
    </dgm:pt>
    <dgm:pt modelId="{F7F8F218-E8F3-48A3-9A92-2A62DB3A3920}" type="pres">
      <dgm:prSet presAssocID="{52EEC604-6ABD-4AF5-B53D-69AFD44E8FFD}" presName="horz1" presStyleCnt="0"/>
      <dgm:spPr/>
    </dgm:pt>
    <dgm:pt modelId="{8683C818-C24B-40E8-A7B4-CB28B11A0A1B}" type="pres">
      <dgm:prSet presAssocID="{52EEC604-6ABD-4AF5-B53D-69AFD44E8FFD}" presName="tx1" presStyleLbl="revTx" presStyleIdx="3" presStyleCnt="4"/>
      <dgm:spPr/>
    </dgm:pt>
    <dgm:pt modelId="{939D980E-1E89-47C6-B55C-AC194BEC50AF}" type="pres">
      <dgm:prSet presAssocID="{52EEC604-6ABD-4AF5-B53D-69AFD44E8FFD}" presName="vert1" presStyleCnt="0"/>
      <dgm:spPr/>
    </dgm:pt>
  </dgm:ptLst>
  <dgm:cxnLst>
    <dgm:cxn modelId="{0CF19E09-370F-4E6B-BEE7-33EE1552829F}" srcId="{576C5BA1-439B-495D-BEDD-898357EB987B}" destId="{24541598-5B01-4FA1-A9F6-7AD2C8F8014F}" srcOrd="2" destOrd="0" parTransId="{51995B5E-A28F-4454-A956-68F5D0B62257}" sibTransId="{75CB7D15-171D-4CFC-9175-F84569C67AB1}"/>
    <dgm:cxn modelId="{DE21A111-DD5A-4BA6-BC97-57C9C4407ABE}" type="presOf" srcId="{9B444E87-375C-48B2-8919-51424CB9E45E}" destId="{B808979A-9505-4C6F-BC8A-C7293383DC44}" srcOrd="0" destOrd="0" presId="urn:microsoft.com/office/officeart/2008/layout/LinedList"/>
    <dgm:cxn modelId="{B1519632-F7DD-41D9-9CFA-1F7548916AFA}" srcId="{576C5BA1-439B-495D-BEDD-898357EB987B}" destId="{52EEC604-6ABD-4AF5-B53D-69AFD44E8FFD}" srcOrd="3" destOrd="0" parTransId="{C6766750-3D3C-4410-9A7D-6B99F6B570BB}" sibTransId="{44604C85-FEB2-42F6-825F-20F572FCC84D}"/>
    <dgm:cxn modelId="{B69B2F4C-0C12-4A4C-8FFF-9EE39BC020CB}" srcId="{576C5BA1-439B-495D-BEDD-898357EB987B}" destId="{9B444E87-375C-48B2-8919-51424CB9E45E}" srcOrd="1" destOrd="0" parTransId="{1C1FB045-3730-4BEF-9869-47B399E03535}" sibTransId="{FA43E046-AC6C-43CD-A161-486206EB2945}"/>
    <dgm:cxn modelId="{058CD456-4646-44F4-8897-C52158D3DDF3}" srcId="{576C5BA1-439B-495D-BEDD-898357EB987B}" destId="{30359266-6EF0-400C-A54E-A20383CBD7D9}" srcOrd="0" destOrd="0" parTransId="{867307D4-0115-4E12-A332-6359240F81F1}" sibTransId="{5C4EA914-8888-4783-8D50-4B0AAA6E37FA}"/>
    <dgm:cxn modelId="{1BA6ECDE-3743-434A-85EE-B3257E3C0F1A}" type="presOf" srcId="{576C5BA1-439B-495D-BEDD-898357EB987B}" destId="{F2B8FC8A-90EC-407B-912F-0B09EC28DC78}" srcOrd="0" destOrd="0" presId="urn:microsoft.com/office/officeart/2008/layout/LinedList"/>
    <dgm:cxn modelId="{907147E1-5B1D-4C27-B50E-97A0432FDEC2}" type="presOf" srcId="{52EEC604-6ABD-4AF5-B53D-69AFD44E8FFD}" destId="{8683C818-C24B-40E8-A7B4-CB28B11A0A1B}" srcOrd="0" destOrd="0" presId="urn:microsoft.com/office/officeart/2008/layout/LinedList"/>
    <dgm:cxn modelId="{2996FFF5-235D-4817-8958-98B546B154A4}" type="presOf" srcId="{30359266-6EF0-400C-A54E-A20383CBD7D9}" destId="{CD2D296C-5961-4185-8783-B1B5F92D478B}" srcOrd="0" destOrd="0" presId="urn:microsoft.com/office/officeart/2008/layout/LinedList"/>
    <dgm:cxn modelId="{A38C6FFB-0ED4-4ADF-BC90-A572A943D6A7}" type="presOf" srcId="{24541598-5B01-4FA1-A9F6-7AD2C8F8014F}" destId="{746A3461-1F07-4275-B8FE-BD06E6CC5201}" srcOrd="0" destOrd="0" presId="urn:microsoft.com/office/officeart/2008/layout/LinedList"/>
    <dgm:cxn modelId="{8990D5CB-73AC-4BF6-BA8F-1C8E706B73A2}" type="presParOf" srcId="{F2B8FC8A-90EC-407B-912F-0B09EC28DC78}" destId="{E0ED325D-F156-4014-B2B4-33CE112A3032}" srcOrd="0" destOrd="0" presId="urn:microsoft.com/office/officeart/2008/layout/LinedList"/>
    <dgm:cxn modelId="{E2E0A919-8C6D-45B4-A62D-2C9927F55337}" type="presParOf" srcId="{F2B8FC8A-90EC-407B-912F-0B09EC28DC78}" destId="{E894B1CB-A14E-4419-B032-6681D4677322}" srcOrd="1" destOrd="0" presId="urn:microsoft.com/office/officeart/2008/layout/LinedList"/>
    <dgm:cxn modelId="{276A7B95-B3EE-4B80-B98B-AE37663AECDC}" type="presParOf" srcId="{E894B1CB-A14E-4419-B032-6681D4677322}" destId="{CD2D296C-5961-4185-8783-B1B5F92D478B}" srcOrd="0" destOrd="0" presId="urn:microsoft.com/office/officeart/2008/layout/LinedList"/>
    <dgm:cxn modelId="{0719C4BB-2593-47CC-B61D-CB3E1FB72D88}" type="presParOf" srcId="{E894B1CB-A14E-4419-B032-6681D4677322}" destId="{646F5369-DE7D-42ED-981F-7FAAE6A8B37D}" srcOrd="1" destOrd="0" presId="urn:microsoft.com/office/officeart/2008/layout/LinedList"/>
    <dgm:cxn modelId="{D65431B7-9C88-4551-AB98-D1486057987B}" type="presParOf" srcId="{F2B8FC8A-90EC-407B-912F-0B09EC28DC78}" destId="{1542B4D7-280F-4FE6-8495-3BB0308E09B6}" srcOrd="2" destOrd="0" presId="urn:microsoft.com/office/officeart/2008/layout/LinedList"/>
    <dgm:cxn modelId="{05BA0703-F45F-459B-9F7B-9518E6A5F771}" type="presParOf" srcId="{F2B8FC8A-90EC-407B-912F-0B09EC28DC78}" destId="{1660874F-2410-4F5C-9FC8-4C4BAA4122E7}" srcOrd="3" destOrd="0" presId="urn:microsoft.com/office/officeart/2008/layout/LinedList"/>
    <dgm:cxn modelId="{295ABFDF-F8A2-45AA-AF74-88A92696720A}" type="presParOf" srcId="{1660874F-2410-4F5C-9FC8-4C4BAA4122E7}" destId="{B808979A-9505-4C6F-BC8A-C7293383DC44}" srcOrd="0" destOrd="0" presId="urn:microsoft.com/office/officeart/2008/layout/LinedList"/>
    <dgm:cxn modelId="{EBDDDCAE-3DFB-4DA7-A46A-AA444313F373}" type="presParOf" srcId="{1660874F-2410-4F5C-9FC8-4C4BAA4122E7}" destId="{21E28B1B-F3B3-45E2-8FAD-EEF1C56E1AFF}" srcOrd="1" destOrd="0" presId="urn:microsoft.com/office/officeart/2008/layout/LinedList"/>
    <dgm:cxn modelId="{974414BA-5A85-4B30-851A-FBA4771A121E}" type="presParOf" srcId="{F2B8FC8A-90EC-407B-912F-0B09EC28DC78}" destId="{DADA3D68-7A97-46AF-871A-457C27564565}" srcOrd="4" destOrd="0" presId="urn:microsoft.com/office/officeart/2008/layout/LinedList"/>
    <dgm:cxn modelId="{E9D6E6DB-D6C4-4DD1-B96F-51C9A1031324}" type="presParOf" srcId="{F2B8FC8A-90EC-407B-912F-0B09EC28DC78}" destId="{5737F500-1857-4072-A52F-4F57C5B594AF}" srcOrd="5" destOrd="0" presId="urn:microsoft.com/office/officeart/2008/layout/LinedList"/>
    <dgm:cxn modelId="{0607A987-C250-4747-BFE5-35057F392CBA}" type="presParOf" srcId="{5737F500-1857-4072-A52F-4F57C5B594AF}" destId="{746A3461-1F07-4275-B8FE-BD06E6CC5201}" srcOrd="0" destOrd="0" presId="urn:microsoft.com/office/officeart/2008/layout/LinedList"/>
    <dgm:cxn modelId="{CB4F320C-E3D3-46E8-AE92-E77652C06A93}" type="presParOf" srcId="{5737F500-1857-4072-A52F-4F57C5B594AF}" destId="{B6104A93-FDD5-450A-84A6-201C79007C87}" srcOrd="1" destOrd="0" presId="urn:microsoft.com/office/officeart/2008/layout/LinedList"/>
    <dgm:cxn modelId="{1B3F9C80-63B5-4420-8CDE-E0D087E1BB66}" type="presParOf" srcId="{F2B8FC8A-90EC-407B-912F-0B09EC28DC78}" destId="{89AA96A6-79B7-41A3-B54D-3A4661DCD9B5}" srcOrd="6" destOrd="0" presId="urn:microsoft.com/office/officeart/2008/layout/LinedList"/>
    <dgm:cxn modelId="{C79D41CF-5CA8-4DDF-A685-391FF10D699F}" type="presParOf" srcId="{F2B8FC8A-90EC-407B-912F-0B09EC28DC78}" destId="{F7F8F218-E8F3-48A3-9A92-2A62DB3A3920}" srcOrd="7" destOrd="0" presId="urn:microsoft.com/office/officeart/2008/layout/LinedList"/>
    <dgm:cxn modelId="{2557B76C-527F-420D-94D1-4F4814C2CA87}" type="presParOf" srcId="{F7F8F218-E8F3-48A3-9A92-2A62DB3A3920}" destId="{8683C818-C24B-40E8-A7B4-CB28B11A0A1B}" srcOrd="0" destOrd="0" presId="urn:microsoft.com/office/officeart/2008/layout/LinedList"/>
    <dgm:cxn modelId="{54133FFC-E4B4-4C49-AE4C-BDA2184E938D}" type="presParOf" srcId="{F7F8F218-E8F3-48A3-9A92-2A62DB3A3920}" destId="{939D980E-1E89-47C6-B55C-AC194BEC50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64C31F-3AC0-49EB-A550-BEF02DAF7733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4136F8D-2AD0-49B8-958A-9824F945C310}">
      <dgm:prSet/>
      <dgm:spPr/>
      <dgm:t>
        <a:bodyPr/>
        <a:lstStyle/>
        <a:p>
          <a:r>
            <a:rPr lang="en-ZA"/>
            <a:t>• Recent product launches (e.g., skincare and fragrance) have driven noticeable sales growth</a:t>
          </a:r>
          <a:endParaRPr lang="en-US"/>
        </a:p>
      </dgm:t>
    </dgm:pt>
    <dgm:pt modelId="{0E48F62F-07D1-4977-83FC-57B7298BF6A3}" type="parTrans" cxnId="{8AA72945-9E82-4789-AE9D-A8018C10CE00}">
      <dgm:prSet/>
      <dgm:spPr/>
      <dgm:t>
        <a:bodyPr/>
        <a:lstStyle/>
        <a:p>
          <a:endParaRPr lang="en-US"/>
        </a:p>
      </dgm:t>
    </dgm:pt>
    <dgm:pt modelId="{22FDEEC7-DFDB-44D8-8D59-08F3A4277EFB}" type="sibTrans" cxnId="{8AA72945-9E82-4789-AE9D-A8018C10CE00}">
      <dgm:prSet/>
      <dgm:spPr/>
      <dgm:t>
        <a:bodyPr/>
        <a:lstStyle/>
        <a:p>
          <a:endParaRPr lang="en-US"/>
        </a:p>
      </dgm:t>
    </dgm:pt>
    <dgm:pt modelId="{0CA0E3BD-C751-4080-8C49-B85370C03771}">
      <dgm:prSet/>
      <dgm:spPr/>
      <dgm:t>
        <a:bodyPr/>
        <a:lstStyle/>
        <a:p>
          <a:r>
            <a:rPr lang="en-ZA"/>
            <a:t>• Customers are requesting toiletry bags that are compact and handbag-friendly</a:t>
          </a:r>
          <a:endParaRPr lang="en-US"/>
        </a:p>
      </dgm:t>
    </dgm:pt>
    <dgm:pt modelId="{08BBE30F-B9B9-40FA-815C-2FEB70DB6C80}" type="parTrans" cxnId="{47F20C9A-4801-4418-A5CE-158360424710}">
      <dgm:prSet/>
      <dgm:spPr/>
      <dgm:t>
        <a:bodyPr/>
        <a:lstStyle/>
        <a:p>
          <a:endParaRPr lang="en-US"/>
        </a:p>
      </dgm:t>
    </dgm:pt>
    <dgm:pt modelId="{1ABDBF78-9CB7-4BDE-A4CB-3FF69DA76D96}" type="sibTrans" cxnId="{47F20C9A-4801-4418-A5CE-158360424710}">
      <dgm:prSet/>
      <dgm:spPr/>
      <dgm:t>
        <a:bodyPr/>
        <a:lstStyle/>
        <a:p>
          <a:endParaRPr lang="en-US"/>
        </a:p>
      </dgm:t>
    </dgm:pt>
    <dgm:pt modelId="{DF6994C4-A907-4352-B313-C03F710EDBED}">
      <dgm:prSet/>
      <dgm:spPr/>
      <dgm:t>
        <a:bodyPr/>
        <a:lstStyle/>
        <a:p>
          <a:r>
            <a:rPr lang="en-ZA"/>
            <a:t>• Strong potential for cross-merchandising beauty accessories with cosmetics</a:t>
          </a:r>
          <a:endParaRPr lang="en-US"/>
        </a:p>
      </dgm:t>
    </dgm:pt>
    <dgm:pt modelId="{757AFAA0-BC3E-42C5-8139-4DC6E17209C0}" type="parTrans" cxnId="{66661C6A-AF80-4851-9C02-75D7E14B6518}">
      <dgm:prSet/>
      <dgm:spPr/>
      <dgm:t>
        <a:bodyPr/>
        <a:lstStyle/>
        <a:p>
          <a:endParaRPr lang="en-US"/>
        </a:p>
      </dgm:t>
    </dgm:pt>
    <dgm:pt modelId="{9D1F31EC-DF42-4C1A-B211-405CAE51C517}" type="sibTrans" cxnId="{66661C6A-AF80-4851-9C02-75D7E14B6518}">
      <dgm:prSet/>
      <dgm:spPr/>
      <dgm:t>
        <a:bodyPr/>
        <a:lstStyle/>
        <a:p>
          <a:endParaRPr lang="en-US"/>
        </a:p>
      </dgm:t>
    </dgm:pt>
    <dgm:pt modelId="{8997AE88-4F2D-4F2D-B90F-AA6C25127A6B}">
      <dgm:prSet/>
      <dgm:spPr/>
      <dgm:t>
        <a:bodyPr/>
        <a:lstStyle/>
        <a:p>
          <a:r>
            <a:rPr lang="en-ZA"/>
            <a:t>• Team is motivated but raised concerns about limited display space for new launches</a:t>
          </a:r>
          <a:endParaRPr lang="en-US"/>
        </a:p>
      </dgm:t>
    </dgm:pt>
    <dgm:pt modelId="{FED7973C-DCFB-41BA-B503-7DF341866942}" type="parTrans" cxnId="{21E360C0-D5AA-4545-B1FA-80E186B5AF79}">
      <dgm:prSet/>
      <dgm:spPr/>
      <dgm:t>
        <a:bodyPr/>
        <a:lstStyle/>
        <a:p>
          <a:endParaRPr lang="en-US"/>
        </a:p>
      </dgm:t>
    </dgm:pt>
    <dgm:pt modelId="{6D7CBA63-5F28-483B-B9E7-C8B44AF24D1F}" type="sibTrans" cxnId="{21E360C0-D5AA-4545-B1FA-80E186B5AF79}">
      <dgm:prSet/>
      <dgm:spPr/>
      <dgm:t>
        <a:bodyPr/>
        <a:lstStyle/>
        <a:p>
          <a:endParaRPr lang="en-US"/>
        </a:p>
      </dgm:t>
    </dgm:pt>
    <dgm:pt modelId="{563A5E12-A6F2-4FB6-845C-8857D0F595B2}" type="pres">
      <dgm:prSet presAssocID="{9764C31F-3AC0-49EB-A550-BEF02DAF7733}" presName="vert0" presStyleCnt="0">
        <dgm:presLayoutVars>
          <dgm:dir/>
          <dgm:animOne val="branch"/>
          <dgm:animLvl val="lvl"/>
        </dgm:presLayoutVars>
      </dgm:prSet>
      <dgm:spPr/>
    </dgm:pt>
    <dgm:pt modelId="{979F68A9-2B11-4005-AD91-EDC818639E5D}" type="pres">
      <dgm:prSet presAssocID="{84136F8D-2AD0-49B8-958A-9824F945C310}" presName="thickLine" presStyleLbl="alignNode1" presStyleIdx="0" presStyleCnt="4"/>
      <dgm:spPr/>
    </dgm:pt>
    <dgm:pt modelId="{F43FFB05-E50E-4E7A-B184-4B71A365D9E7}" type="pres">
      <dgm:prSet presAssocID="{84136F8D-2AD0-49B8-958A-9824F945C310}" presName="horz1" presStyleCnt="0"/>
      <dgm:spPr/>
    </dgm:pt>
    <dgm:pt modelId="{022A25E6-CCDC-4485-AE1F-2BB4A5D8E771}" type="pres">
      <dgm:prSet presAssocID="{84136F8D-2AD0-49B8-958A-9824F945C310}" presName="tx1" presStyleLbl="revTx" presStyleIdx="0" presStyleCnt="4"/>
      <dgm:spPr/>
    </dgm:pt>
    <dgm:pt modelId="{A655D5F8-D903-4D41-AB6D-D56E0465FC29}" type="pres">
      <dgm:prSet presAssocID="{84136F8D-2AD0-49B8-958A-9824F945C310}" presName="vert1" presStyleCnt="0"/>
      <dgm:spPr/>
    </dgm:pt>
    <dgm:pt modelId="{4C206D65-FB4C-4153-A4E0-B826D0C06EB0}" type="pres">
      <dgm:prSet presAssocID="{0CA0E3BD-C751-4080-8C49-B85370C03771}" presName="thickLine" presStyleLbl="alignNode1" presStyleIdx="1" presStyleCnt="4"/>
      <dgm:spPr/>
    </dgm:pt>
    <dgm:pt modelId="{B03809F9-B24F-4059-AD1D-1D1361814FDD}" type="pres">
      <dgm:prSet presAssocID="{0CA0E3BD-C751-4080-8C49-B85370C03771}" presName="horz1" presStyleCnt="0"/>
      <dgm:spPr/>
    </dgm:pt>
    <dgm:pt modelId="{D9AA3EB9-4B12-4EE9-AB88-39A81DC65564}" type="pres">
      <dgm:prSet presAssocID="{0CA0E3BD-C751-4080-8C49-B85370C03771}" presName="tx1" presStyleLbl="revTx" presStyleIdx="1" presStyleCnt="4"/>
      <dgm:spPr/>
    </dgm:pt>
    <dgm:pt modelId="{C20D873E-45AB-46F7-AA32-924BEF569B6F}" type="pres">
      <dgm:prSet presAssocID="{0CA0E3BD-C751-4080-8C49-B85370C03771}" presName="vert1" presStyleCnt="0"/>
      <dgm:spPr/>
    </dgm:pt>
    <dgm:pt modelId="{913A258F-E49B-4E72-8B2B-26A004C145F4}" type="pres">
      <dgm:prSet presAssocID="{DF6994C4-A907-4352-B313-C03F710EDBED}" presName="thickLine" presStyleLbl="alignNode1" presStyleIdx="2" presStyleCnt="4"/>
      <dgm:spPr/>
    </dgm:pt>
    <dgm:pt modelId="{774C6C8F-2D3F-432A-AA6F-FB7C1D6D87EE}" type="pres">
      <dgm:prSet presAssocID="{DF6994C4-A907-4352-B313-C03F710EDBED}" presName="horz1" presStyleCnt="0"/>
      <dgm:spPr/>
    </dgm:pt>
    <dgm:pt modelId="{092D44D8-680D-43EB-9910-EF8E49484985}" type="pres">
      <dgm:prSet presAssocID="{DF6994C4-A907-4352-B313-C03F710EDBED}" presName="tx1" presStyleLbl="revTx" presStyleIdx="2" presStyleCnt="4"/>
      <dgm:spPr/>
    </dgm:pt>
    <dgm:pt modelId="{2858CF18-1F47-4385-BA15-698898A0DBFF}" type="pres">
      <dgm:prSet presAssocID="{DF6994C4-A907-4352-B313-C03F710EDBED}" presName="vert1" presStyleCnt="0"/>
      <dgm:spPr/>
    </dgm:pt>
    <dgm:pt modelId="{7079714D-5AD9-4BEF-8099-8DAA87873856}" type="pres">
      <dgm:prSet presAssocID="{8997AE88-4F2D-4F2D-B90F-AA6C25127A6B}" presName="thickLine" presStyleLbl="alignNode1" presStyleIdx="3" presStyleCnt="4"/>
      <dgm:spPr/>
    </dgm:pt>
    <dgm:pt modelId="{8499F013-D9B9-4B3E-B108-D1153CD65A1E}" type="pres">
      <dgm:prSet presAssocID="{8997AE88-4F2D-4F2D-B90F-AA6C25127A6B}" presName="horz1" presStyleCnt="0"/>
      <dgm:spPr/>
    </dgm:pt>
    <dgm:pt modelId="{0F5F9E74-1D15-463F-910B-8BBC99E368E8}" type="pres">
      <dgm:prSet presAssocID="{8997AE88-4F2D-4F2D-B90F-AA6C25127A6B}" presName="tx1" presStyleLbl="revTx" presStyleIdx="3" presStyleCnt="4"/>
      <dgm:spPr/>
    </dgm:pt>
    <dgm:pt modelId="{89F436AA-28C6-4411-B8E4-5EE6C87B041C}" type="pres">
      <dgm:prSet presAssocID="{8997AE88-4F2D-4F2D-B90F-AA6C25127A6B}" presName="vert1" presStyleCnt="0"/>
      <dgm:spPr/>
    </dgm:pt>
  </dgm:ptLst>
  <dgm:cxnLst>
    <dgm:cxn modelId="{F37F7006-9BA9-4C82-B3C8-0786CB8074D1}" type="presOf" srcId="{0CA0E3BD-C751-4080-8C49-B85370C03771}" destId="{D9AA3EB9-4B12-4EE9-AB88-39A81DC65564}" srcOrd="0" destOrd="0" presId="urn:microsoft.com/office/officeart/2008/layout/LinedList"/>
    <dgm:cxn modelId="{04EBD65C-D050-4A33-9DB6-52E6C631C127}" type="presOf" srcId="{84136F8D-2AD0-49B8-958A-9824F945C310}" destId="{022A25E6-CCDC-4485-AE1F-2BB4A5D8E771}" srcOrd="0" destOrd="0" presId="urn:microsoft.com/office/officeart/2008/layout/LinedList"/>
    <dgm:cxn modelId="{8AA72945-9E82-4789-AE9D-A8018C10CE00}" srcId="{9764C31F-3AC0-49EB-A550-BEF02DAF7733}" destId="{84136F8D-2AD0-49B8-958A-9824F945C310}" srcOrd="0" destOrd="0" parTransId="{0E48F62F-07D1-4977-83FC-57B7298BF6A3}" sibTransId="{22FDEEC7-DFDB-44D8-8D59-08F3A4277EFB}"/>
    <dgm:cxn modelId="{F4356145-E754-4B29-96FA-FFF4268CEEC2}" type="presOf" srcId="{9764C31F-3AC0-49EB-A550-BEF02DAF7733}" destId="{563A5E12-A6F2-4FB6-845C-8857D0F595B2}" srcOrd="0" destOrd="0" presId="urn:microsoft.com/office/officeart/2008/layout/LinedList"/>
    <dgm:cxn modelId="{66661C6A-AF80-4851-9C02-75D7E14B6518}" srcId="{9764C31F-3AC0-49EB-A550-BEF02DAF7733}" destId="{DF6994C4-A907-4352-B313-C03F710EDBED}" srcOrd="2" destOrd="0" parTransId="{757AFAA0-BC3E-42C5-8139-4DC6E17209C0}" sibTransId="{9D1F31EC-DF42-4C1A-B211-405CAE51C517}"/>
    <dgm:cxn modelId="{C9455A97-F2ED-4A97-B04E-8325E51EEF29}" type="presOf" srcId="{DF6994C4-A907-4352-B313-C03F710EDBED}" destId="{092D44D8-680D-43EB-9910-EF8E49484985}" srcOrd="0" destOrd="0" presId="urn:microsoft.com/office/officeart/2008/layout/LinedList"/>
    <dgm:cxn modelId="{47F20C9A-4801-4418-A5CE-158360424710}" srcId="{9764C31F-3AC0-49EB-A550-BEF02DAF7733}" destId="{0CA0E3BD-C751-4080-8C49-B85370C03771}" srcOrd="1" destOrd="0" parTransId="{08BBE30F-B9B9-40FA-815C-2FEB70DB6C80}" sibTransId="{1ABDBF78-9CB7-4BDE-A4CB-3FF69DA76D96}"/>
    <dgm:cxn modelId="{21E360C0-D5AA-4545-B1FA-80E186B5AF79}" srcId="{9764C31F-3AC0-49EB-A550-BEF02DAF7733}" destId="{8997AE88-4F2D-4F2D-B90F-AA6C25127A6B}" srcOrd="3" destOrd="0" parTransId="{FED7973C-DCFB-41BA-B503-7DF341866942}" sibTransId="{6D7CBA63-5F28-483B-B9E7-C8B44AF24D1F}"/>
    <dgm:cxn modelId="{D7C025D2-04DB-4113-B73E-09A798988EBE}" type="presOf" srcId="{8997AE88-4F2D-4F2D-B90F-AA6C25127A6B}" destId="{0F5F9E74-1D15-463F-910B-8BBC99E368E8}" srcOrd="0" destOrd="0" presId="urn:microsoft.com/office/officeart/2008/layout/LinedList"/>
    <dgm:cxn modelId="{75C5493D-4835-4E21-A685-96FE239D97CE}" type="presParOf" srcId="{563A5E12-A6F2-4FB6-845C-8857D0F595B2}" destId="{979F68A9-2B11-4005-AD91-EDC818639E5D}" srcOrd="0" destOrd="0" presId="urn:microsoft.com/office/officeart/2008/layout/LinedList"/>
    <dgm:cxn modelId="{A1383756-CED4-4D17-98F4-7DF5963828FA}" type="presParOf" srcId="{563A5E12-A6F2-4FB6-845C-8857D0F595B2}" destId="{F43FFB05-E50E-4E7A-B184-4B71A365D9E7}" srcOrd="1" destOrd="0" presId="urn:microsoft.com/office/officeart/2008/layout/LinedList"/>
    <dgm:cxn modelId="{22DAF567-F2FF-4092-A5F0-67A9FE4A319B}" type="presParOf" srcId="{F43FFB05-E50E-4E7A-B184-4B71A365D9E7}" destId="{022A25E6-CCDC-4485-AE1F-2BB4A5D8E771}" srcOrd="0" destOrd="0" presId="urn:microsoft.com/office/officeart/2008/layout/LinedList"/>
    <dgm:cxn modelId="{A53895B1-C096-4117-8226-C8C941E28A2A}" type="presParOf" srcId="{F43FFB05-E50E-4E7A-B184-4B71A365D9E7}" destId="{A655D5F8-D903-4D41-AB6D-D56E0465FC29}" srcOrd="1" destOrd="0" presId="urn:microsoft.com/office/officeart/2008/layout/LinedList"/>
    <dgm:cxn modelId="{C645DFC1-1147-4E13-AFF1-6F178D90F571}" type="presParOf" srcId="{563A5E12-A6F2-4FB6-845C-8857D0F595B2}" destId="{4C206D65-FB4C-4153-A4E0-B826D0C06EB0}" srcOrd="2" destOrd="0" presId="urn:microsoft.com/office/officeart/2008/layout/LinedList"/>
    <dgm:cxn modelId="{AF5C02BA-5EC8-4084-B2F5-0FC9FF67F60E}" type="presParOf" srcId="{563A5E12-A6F2-4FB6-845C-8857D0F595B2}" destId="{B03809F9-B24F-4059-AD1D-1D1361814FDD}" srcOrd="3" destOrd="0" presId="urn:microsoft.com/office/officeart/2008/layout/LinedList"/>
    <dgm:cxn modelId="{2B1B9253-B669-4E36-AA12-FBAC182F3493}" type="presParOf" srcId="{B03809F9-B24F-4059-AD1D-1D1361814FDD}" destId="{D9AA3EB9-4B12-4EE9-AB88-39A81DC65564}" srcOrd="0" destOrd="0" presId="urn:microsoft.com/office/officeart/2008/layout/LinedList"/>
    <dgm:cxn modelId="{5870FE79-8BF8-40D4-AB3D-7107A714ABDE}" type="presParOf" srcId="{B03809F9-B24F-4059-AD1D-1D1361814FDD}" destId="{C20D873E-45AB-46F7-AA32-924BEF569B6F}" srcOrd="1" destOrd="0" presId="urn:microsoft.com/office/officeart/2008/layout/LinedList"/>
    <dgm:cxn modelId="{7EC4AC48-C305-4090-98EF-F3E548CC7EA5}" type="presParOf" srcId="{563A5E12-A6F2-4FB6-845C-8857D0F595B2}" destId="{913A258F-E49B-4E72-8B2B-26A004C145F4}" srcOrd="4" destOrd="0" presId="urn:microsoft.com/office/officeart/2008/layout/LinedList"/>
    <dgm:cxn modelId="{D2BAE682-1F5D-4699-B026-428D544CF52B}" type="presParOf" srcId="{563A5E12-A6F2-4FB6-845C-8857D0F595B2}" destId="{774C6C8F-2D3F-432A-AA6F-FB7C1D6D87EE}" srcOrd="5" destOrd="0" presId="urn:microsoft.com/office/officeart/2008/layout/LinedList"/>
    <dgm:cxn modelId="{C1298640-0CAB-4E65-91A7-2B27551B3F07}" type="presParOf" srcId="{774C6C8F-2D3F-432A-AA6F-FB7C1D6D87EE}" destId="{092D44D8-680D-43EB-9910-EF8E49484985}" srcOrd="0" destOrd="0" presId="urn:microsoft.com/office/officeart/2008/layout/LinedList"/>
    <dgm:cxn modelId="{52E71C00-B30C-4FDF-A0E3-CF802D343ABD}" type="presParOf" srcId="{774C6C8F-2D3F-432A-AA6F-FB7C1D6D87EE}" destId="{2858CF18-1F47-4385-BA15-698898A0DBFF}" srcOrd="1" destOrd="0" presId="urn:microsoft.com/office/officeart/2008/layout/LinedList"/>
    <dgm:cxn modelId="{72B64A9E-CB7C-4FF1-A1D8-F53EF70A4903}" type="presParOf" srcId="{563A5E12-A6F2-4FB6-845C-8857D0F595B2}" destId="{7079714D-5AD9-4BEF-8099-8DAA87873856}" srcOrd="6" destOrd="0" presId="urn:microsoft.com/office/officeart/2008/layout/LinedList"/>
    <dgm:cxn modelId="{45B7DA76-C4B3-41FA-86BB-14F3787DE6B1}" type="presParOf" srcId="{563A5E12-A6F2-4FB6-845C-8857D0F595B2}" destId="{8499F013-D9B9-4B3E-B108-D1153CD65A1E}" srcOrd="7" destOrd="0" presId="urn:microsoft.com/office/officeart/2008/layout/LinedList"/>
    <dgm:cxn modelId="{95B97F76-35A0-4878-8D8E-10C3EAA85243}" type="presParOf" srcId="{8499F013-D9B9-4B3E-B108-D1153CD65A1E}" destId="{0F5F9E74-1D15-463F-910B-8BBC99E368E8}" srcOrd="0" destOrd="0" presId="urn:microsoft.com/office/officeart/2008/layout/LinedList"/>
    <dgm:cxn modelId="{DF378B31-CA5A-4879-B6C0-EDA2C308331F}" type="presParOf" srcId="{8499F013-D9B9-4B3E-B108-D1153CD65A1E}" destId="{89F436AA-28C6-4411-B8E4-5EE6C87B04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AD118B-1D89-4C34-891B-F977AB6A2C94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CBA35A7-3C1B-4BE8-8141-C512775A1562}">
      <dgm:prSet/>
      <dgm:spPr/>
      <dgm:t>
        <a:bodyPr/>
        <a:lstStyle/>
        <a:p>
          <a:pPr>
            <a:defRPr cap="all"/>
          </a:pPr>
          <a:r>
            <a:rPr lang="en-ZA"/>
            <a:t>• Operations are stable with no critical concerns raised</a:t>
          </a:r>
          <a:endParaRPr lang="en-US"/>
        </a:p>
      </dgm:t>
    </dgm:pt>
    <dgm:pt modelId="{8048B903-A078-4711-BCAE-52FF099513E6}" type="parTrans" cxnId="{C65968D5-3CCE-4547-B955-FD47AD455420}">
      <dgm:prSet/>
      <dgm:spPr/>
      <dgm:t>
        <a:bodyPr/>
        <a:lstStyle/>
        <a:p>
          <a:endParaRPr lang="en-US"/>
        </a:p>
      </dgm:t>
    </dgm:pt>
    <dgm:pt modelId="{8336972C-715A-43F1-A827-8F572315DE37}" type="sibTrans" cxnId="{C65968D5-3CCE-4547-B955-FD47AD455420}">
      <dgm:prSet/>
      <dgm:spPr/>
      <dgm:t>
        <a:bodyPr/>
        <a:lstStyle/>
        <a:p>
          <a:endParaRPr lang="en-US"/>
        </a:p>
      </dgm:t>
    </dgm:pt>
    <dgm:pt modelId="{819E3BB2-412E-4A19-8B20-1BF93E865545}">
      <dgm:prSet/>
      <dgm:spPr/>
      <dgm:t>
        <a:bodyPr/>
        <a:lstStyle/>
        <a:p>
          <a:pPr>
            <a:defRPr cap="all"/>
          </a:pPr>
          <a:r>
            <a:rPr lang="en-ZA"/>
            <a:t>• The team is focused on Christmas setup, ensuring seasonal stock is well presented</a:t>
          </a:r>
          <a:endParaRPr lang="en-US"/>
        </a:p>
      </dgm:t>
    </dgm:pt>
    <dgm:pt modelId="{5205C6DF-03B9-46B0-B6C6-F16DE99A42F2}" type="parTrans" cxnId="{EE0AF93E-933D-4E72-8860-9930B57CE3D4}">
      <dgm:prSet/>
      <dgm:spPr/>
      <dgm:t>
        <a:bodyPr/>
        <a:lstStyle/>
        <a:p>
          <a:endParaRPr lang="en-US"/>
        </a:p>
      </dgm:t>
    </dgm:pt>
    <dgm:pt modelId="{D1F491A1-4074-4DDA-A65A-0392DE95A815}" type="sibTrans" cxnId="{EE0AF93E-933D-4E72-8860-9930B57CE3D4}">
      <dgm:prSet/>
      <dgm:spPr/>
      <dgm:t>
        <a:bodyPr/>
        <a:lstStyle/>
        <a:p>
          <a:endParaRPr lang="en-US"/>
        </a:p>
      </dgm:t>
    </dgm:pt>
    <dgm:pt modelId="{192EC575-45A4-4AC5-8D80-6DFBA08BA2B7}">
      <dgm:prSet/>
      <dgm:spPr/>
      <dgm:t>
        <a:bodyPr/>
        <a:lstStyle/>
        <a:p>
          <a:pPr>
            <a:defRPr cap="all"/>
          </a:pPr>
          <a:r>
            <a:rPr lang="en-ZA"/>
            <a:t>• Visual merchandising in Home aligns with festive campaigns</a:t>
          </a:r>
          <a:endParaRPr lang="en-US"/>
        </a:p>
      </dgm:t>
    </dgm:pt>
    <dgm:pt modelId="{FF18141D-DD9A-4B3D-86EA-22FB3E7DB499}" type="parTrans" cxnId="{3F70A415-55EA-417E-9BC4-F1F0D93861D7}">
      <dgm:prSet/>
      <dgm:spPr/>
      <dgm:t>
        <a:bodyPr/>
        <a:lstStyle/>
        <a:p>
          <a:endParaRPr lang="en-US"/>
        </a:p>
      </dgm:t>
    </dgm:pt>
    <dgm:pt modelId="{B35109F0-68A3-4E52-8B0F-3374A50BB38E}" type="sibTrans" cxnId="{3F70A415-55EA-417E-9BC4-F1F0D93861D7}">
      <dgm:prSet/>
      <dgm:spPr/>
      <dgm:t>
        <a:bodyPr/>
        <a:lstStyle/>
        <a:p>
          <a:endParaRPr lang="en-US"/>
        </a:p>
      </dgm:t>
    </dgm:pt>
    <dgm:pt modelId="{9195CE83-4866-41F1-B17E-19BF57FAA5EE}">
      <dgm:prSet/>
      <dgm:spPr/>
      <dgm:t>
        <a:bodyPr/>
        <a:lstStyle/>
        <a:p>
          <a:pPr>
            <a:defRPr cap="all"/>
          </a:pPr>
          <a:r>
            <a:rPr lang="en-ZA"/>
            <a:t>• Opportunity: leverage festive season for upselling premium homeware bundles</a:t>
          </a:r>
          <a:endParaRPr lang="en-US"/>
        </a:p>
      </dgm:t>
    </dgm:pt>
    <dgm:pt modelId="{E4F04714-B465-4F4C-BB62-9F8853E92800}" type="parTrans" cxnId="{AB11D5BE-F2F9-4887-B465-1F33BC8FE4FF}">
      <dgm:prSet/>
      <dgm:spPr/>
      <dgm:t>
        <a:bodyPr/>
        <a:lstStyle/>
        <a:p>
          <a:endParaRPr lang="en-US"/>
        </a:p>
      </dgm:t>
    </dgm:pt>
    <dgm:pt modelId="{5E9339AA-8CF4-4449-9B60-630E9F98565F}" type="sibTrans" cxnId="{AB11D5BE-F2F9-4887-B465-1F33BC8FE4FF}">
      <dgm:prSet/>
      <dgm:spPr/>
      <dgm:t>
        <a:bodyPr/>
        <a:lstStyle/>
        <a:p>
          <a:endParaRPr lang="en-US"/>
        </a:p>
      </dgm:t>
    </dgm:pt>
    <dgm:pt modelId="{6DF3FAE8-F2CB-417F-A00C-098485143DB8}" type="pres">
      <dgm:prSet presAssocID="{E2AD118B-1D89-4C34-891B-F977AB6A2C94}" presName="vert0" presStyleCnt="0">
        <dgm:presLayoutVars>
          <dgm:dir/>
          <dgm:animOne val="branch"/>
          <dgm:animLvl val="lvl"/>
        </dgm:presLayoutVars>
      </dgm:prSet>
      <dgm:spPr/>
    </dgm:pt>
    <dgm:pt modelId="{C9E7BC33-12B7-46C6-AC6B-BE2CCB18CC7E}" type="pres">
      <dgm:prSet presAssocID="{5CBA35A7-3C1B-4BE8-8141-C512775A1562}" presName="thickLine" presStyleLbl="alignNode1" presStyleIdx="0" presStyleCnt="4"/>
      <dgm:spPr/>
    </dgm:pt>
    <dgm:pt modelId="{0EBA39CF-31E5-42BF-95B5-5AAA3026DD17}" type="pres">
      <dgm:prSet presAssocID="{5CBA35A7-3C1B-4BE8-8141-C512775A1562}" presName="horz1" presStyleCnt="0"/>
      <dgm:spPr/>
    </dgm:pt>
    <dgm:pt modelId="{E20EC6E2-1090-45E3-BA3F-84D6B4165287}" type="pres">
      <dgm:prSet presAssocID="{5CBA35A7-3C1B-4BE8-8141-C512775A1562}" presName="tx1" presStyleLbl="revTx" presStyleIdx="0" presStyleCnt="4"/>
      <dgm:spPr/>
    </dgm:pt>
    <dgm:pt modelId="{BA6B7AE9-2BA4-4057-AF58-0505DB02800A}" type="pres">
      <dgm:prSet presAssocID="{5CBA35A7-3C1B-4BE8-8141-C512775A1562}" presName="vert1" presStyleCnt="0"/>
      <dgm:spPr/>
    </dgm:pt>
    <dgm:pt modelId="{3FEDE433-AD76-414E-997B-723930EA7B16}" type="pres">
      <dgm:prSet presAssocID="{819E3BB2-412E-4A19-8B20-1BF93E865545}" presName="thickLine" presStyleLbl="alignNode1" presStyleIdx="1" presStyleCnt="4"/>
      <dgm:spPr/>
    </dgm:pt>
    <dgm:pt modelId="{E2128888-A6ED-4C18-A57A-777BD9F159F3}" type="pres">
      <dgm:prSet presAssocID="{819E3BB2-412E-4A19-8B20-1BF93E865545}" presName="horz1" presStyleCnt="0"/>
      <dgm:spPr/>
    </dgm:pt>
    <dgm:pt modelId="{CDF6DB60-69B6-4A1C-967D-4E02489463F0}" type="pres">
      <dgm:prSet presAssocID="{819E3BB2-412E-4A19-8B20-1BF93E865545}" presName="tx1" presStyleLbl="revTx" presStyleIdx="1" presStyleCnt="4"/>
      <dgm:spPr/>
    </dgm:pt>
    <dgm:pt modelId="{A63AF9B8-255E-4BFB-B4D8-E7FA0FDD40E0}" type="pres">
      <dgm:prSet presAssocID="{819E3BB2-412E-4A19-8B20-1BF93E865545}" presName="vert1" presStyleCnt="0"/>
      <dgm:spPr/>
    </dgm:pt>
    <dgm:pt modelId="{D2E5C697-3A77-40F2-8C27-4636CD94C7F3}" type="pres">
      <dgm:prSet presAssocID="{192EC575-45A4-4AC5-8D80-6DFBA08BA2B7}" presName="thickLine" presStyleLbl="alignNode1" presStyleIdx="2" presStyleCnt="4"/>
      <dgm:spPr/>
    </dgm:pt>
    <dgm:pt modelId="{51FBB1F8-E8B3-4B35-94E8-9E9B9C17BAF1}" type="pres">
      <dgm:prSet presAssocID="{192EC575-45A4-4AC5-8D80-6DFBA08BA2B7}" presName="horz1" presStyleCnt="0"/>
      <dgm:spPr/>
    </dgm:pt>
    <dgm:pt modelId="{1DAD0F73-B147-46F1-9453-CF95BF0ABA16}" type="pres">
      <dgm:prSet presAssocID="{192EC575-45A4-4AC5-8D80-6DFBA08BA2B7}" presName="tx1" presStyleLbl="revTx" presStyleIdx="2" presStyleCnt="4"/>
      <dgm:spPr/>
    </dgm:pt>
    <dgm:pt modelId="{023E2803-5560-4501-BA49-48C255A7C138}" type="pres">
      <dgm:prSet presAssocID="{192EC575-45A4-4AC5-8D80-6DFBA08BA2B7}" presName="vert1" presStyleCnt="0"/>
      <dgm:spPr/>
    </dgm:pt>
    <dgm:pt modelId="{417AF079-74DC-4695-B6F1-DB065405261C}" type="pres">
      <dgm:prSet presAssocID="{9195CE83-4866-41F1-B17E-19BF57FAA5EE}" presName="thickLine" presStyleLbl="alignNode1" presStyleIdx="3" presStyleCnt="4"/>
      <dgm:spPr/>
    </dgm:pt>
    <dgm:pt modelId="{34670CEF-9AAA-471E-A8C1-5110E2A6A60F}" type="pres">
      <dgm:prSet presAssocID="{9195CE83-4866-41F1-B17E-19BF57FAA5EE}" presName="horz1" presStyleCnt="0"/>
      <dgm:spPr/>
    </dgm:pt>
    <dgm:pt modelId="{F5DB2964-27F6-405E-BDDA-52525D848EF6}" type="pres">
      <dgm:prSet presAssocID="{9195CE83-4866-41F1-B17E-19BF57FAA5EE}" presName="tx1" presStyleLbl="revTx" presStyleIdx="3" presStyleCnt="4"/>
      <dgm:spPr/>
    </dgm:pt>
    <dgm:pt modelId="{782CFD6F-6617-4DF2-9F6E-8A2E4BAE117A}" type="pres">
      <dgm:prSet presAssocID="{9195CE83-4866-41F1-B17E-19BF57FAA5EE}" presName="vert1" presStyleCnt="0"/>
      <dgm:spPr/>
    </dgm:pt>
  </dgm:ptLst>
  <dgm:cxnLst>
    <dgm:cxn modelId="{3F70A415-55EA-417E-9BC4-F1F0D93861D7}" srcId="{E2AD118B-1D89-4C34-891B-F977AB6A2C94}" destId="{192EC575-45A4-4AC5-8D80-6DFBA08BA2B7}" srcOrd="2" destOrd="0" parTransId="{FF18141D-DD9A-4B3D-86EA-22FB3E7DB499}" sibTransId="{B35109F0-68A3-4E52-8B0F-3374A50BB38E}"/>
    <dgm:cxn modelId="{EE0AF93E-933D-4E72-8860-9930B57CE3D4}" srcId="{E2AD118B-1D89-4C34-891B-F977AB6A2C94}" destId="{819E3BB2-412E-4A19-8B20-1BF93E865545}" srcOrd="1" destOrd="0" parTransId="{5205C6DF-03B9-46B0-B6C6-F16DE99A42F2}" sibTransId="{D1F491A1-4074-4DDA-A65A-0392DE95A815}"/>
    <dgm:cxn modelId="{88AEE147-1FBA-42BC-9569-95593A1C1839}" type="presOf" srcId="{9195CE83-4866-41F1-B17E-19BF57FAA5EE}" destId="{F5DB2964-27F6-405E-BDDA-52525D848EF6}" srcOrd="0" destOrd="0" presId="urn:microsoft.com/office/officeart/2008/layout/LinedList"/>
    <dgm:cxn modelId="{410A0B55-3584-4C19-94BE-D0FF049E6924}" type="presOf" srcId="{5CBA35A7-3C1B-4BE8-8141-C512775A1562}" destId="{E20EC6E2-1090-45E3-BA3F-84D6B4165287}" srcOrd="0" destOrd="0" presId="urn:microsoft.com/office/officeart/2008/layout/LinedList"/>
    <dgm:cxn modelId="{AB11D5BE-F2F9-4887-B465-1F33BC8FE4FF}" srcId="{E2AD118B-1D89-4C34-891B-F977AB6A2C94}" destId="{9195CE83-4866-41F1-B17E-19BF57FAA5EE}" srcOrd="3" destOrd="0" parTransId="{E4F04714-B465-4F4C-BB62-9F8853E92800}" sibTransId="{5E9339AA-8CF4-4449-9B60-630E9F98565F}"/>
    <dgm:cxn modelId="{7E152FD4-7F38-4C63-B1B7-595FAD614AE8}" type="presOf" srcId="{819E3BB2-412E-4A19-8B20-1BF93E865545}" destId="{CDF6DB60-69B6-4A1C-967D-4E02489463F0}" srcOrd="0" destOrd="0" presId="urn:microsoft.com/office/officeart/2008/layout/LinedList"/>
    <dgm:cxn modelId="{C65968D5-3CCE-4547-B955-FD47AD455420}" srcId="{E2AD118B-1D89-4C34-891B-F977AB6A2C94}" destId="{5CBA35A7-3C1B-4BE8-8141-C512775A1562}" srcOrd="0" destOrd="0" parTransId="{8048B903-A078-4711-BCAE-52FF099513E6}" sibTransId="{8336972C-715A-43F1-A827-8F572315DE37}"/>
    <dgm:cxn modelId="{5A56CBEB-2A8D-4977-A3DC-E62E52E66B9A}" type="presOf" srcId="{E2AD118B-1D89-4C34-891B-F977AB6A2C94}" destId="{6DF3FAE8-F2CB-417F-A00C-098485143DB8}" srcOrd="0" destOrd="0" presId="urn:microsoft.com/office/officeart/2008/layout/LinedList"/>
    <dgm:cxn modelId="{C8859DFE-3C3C-4084-84F1-9B6B67AF23C5}" type="presOf" srcId="{192EC575-45A4-4AC5-8D80-6DFBA08BA2B7}" destId="{1DAD0F73-B147-46F1-9453-CF95BF0ABA16}" srcOrd="0" destOrd="0" presId="urn:microsoft.com/office/officeart/2008/layout/LinedList"/>
    <dgm:cxn modelId="{DBCF8FA6-C476-40FA-8471-9F65CAFC8492}" type="presParOf" srcId="{6DF3FAE8-F2CB-417F-A00C-098485143DB8}" destId="{C9E7BC33-12B7-46C6-AC6B-BE2CCB18CC7E}" srcOrd="0" destOrd="0" presId="urn:microsoft.com/office/officeart/2008/layout/LinedList"/>
    <dgm:cxn modelId="{600E1C87-0ACE-4434-AE51-867249B2883F}" type="presParOf" srcId="{6DF3FAE8-F2CB-417F-A00C-098485143DB8}" destId="{0EBA39CF-31E5-42BF-95B5-5AAA3026DD17}" srcOrd="1" destOrd="0" presId="urn:microsoft.com/office/officeart/2008/layout/LinedList"/>
    <dgm:cxn modelId="{35A1AC30-7F15-4194-AB70-29D7EAD76576}" type="presParOf" srcId="{0EBA39CF-31E5-42BF-95B5-5AAA3026DD17}" destId="{E20EC6E2-1090-45E3-BA3F-84D6B4165287}" srcOrd="0" destOrd="0" presId="urn:microsoft.com/office/officeart/2008/layout/LinedList"/>
    <dgm:cxn modelId="{F2E54DFE-C645-4F9E-AF51-2C22482B8F80}" type="presParOf" srcId="{0EBA39CF-31E5-42BF-95B5-5AAA3026DD17}" destId="{BA6B7AE9-2BA4-4057-AF58-0505DB02800A}" srcOrd="1" destOrd="0" presId="urn:microsoft.com/office/officeart/2008/layout/LinedList"/>
    <dgm:cxn modelId="{7CD64544-6CCB-402E-8FEC-E5C908FA1CB6}" type="presParOf" srcId="{6DF3FAE8-F2CB-417F-A00C-098485143DB8}" destId="{3FEDE433-AD76-414E-997B-723930EA7B16}" srcOrd="2" destOrd="0" presId="urn:microsoft.com/office/officeart/2008/layout/LinedList"/>
    <dgm:cxn modelId="{B9F64F93-4EBD-4D32-A9D8-B1D7C0F3C050}" type="presParOf" srcId="{6DF3FAE8-F2CB-417F-A00C-098485143DB8}" destId="{E2128888-A6ED-4C18-A57A-777BD9F159F3}" srcOrd="3" destOrd="0" presId="urn:microsoft.com/office/officeart/2008/layout/LinedList"/>
    <dgm:cxn modelId="{4C18849F-8650-4EEA-8016-33477611D911}" type="presParOf" srcId="{E2128888-A6ED-4C18-A57A-777BD9F159F3}" destId="{CDF6DB60-69B6-4A1C-967D-4E02489463F0}" srcOrd="0" destOrd="0" presId="urn:microsoft.com/office/officeart/2008/layout/LinedList"/>
    <dgm:cxn modelId="{E17E5936-7884-454F-B819-EA530E9C3257}" type="presParOf" srcId="{E2128888-A6ED-4C18-A57A-777BD9F159F3}" destId="{A63AF9B8-255E-4BFB-B4D8-E7FA0FDD40E0}" srcOrd="1" destOrd="0" presId="urn:microsoft.com/office/officeart/2008/layout/LinedList"/>
    <dgm:cxn modelId="{7FDDCBF5-1E57-4779-9775-144BDAD2E468}" type="presParOf" srcId="{6DF3FAE8-F2CB-417F-A00C-098485143DB8}" destId="{D2E5C697-3A77-40F2-8C27-4636CD94C7F3}" srcOrd="4" destOrd="0" presId="urn:microsoft.com/office/officeart/2008/layout/LinedList"/>
    <dgm:cxn modelId="{65064D1C-B081-4BFE-A04B-BCC9FDC5DDD3}" type="presParOf" srcId="{6DF3FAE8-F2CB-417F-A00C-098485143DB8}" destId="{51FBB1F8-E8B3-4B35-94E8-9E9B9C17BAF1}" srcOrd="5" destOrd="0" presId="urn:microsoft.com/office/officeart/2008/layout/LinedList"/>
    <dgm:cxn modelId="{507E1AFC-B5BD-415F-9A5E-6B55930F242D}" type="presParOf" srcId="{51FBB1F8-E8B3-4B35-94E8-9E9B9C17BAF1}" destId="{1DAD0F73-B147-46F1-9453-CF95BF0ABA16}" srcOrd="0" destOrd="0" presId="urn:microsoft.com/office/officeart/2008/layout/LinedList"/>
    <dgm:cxn modelId="{61EC3A4F-4220-4419-B6E0-8E7C8AC5480D}" type="presParOf" srcId="{51FBB1F8-E8B3-4B35-94E8-9E9B9C17BAF1}" destId="{023E2803-5560-4501-BA49-48C255A7C138}" srcOrd="1" destOrd="0" presId="urn:microsoft.com/office/officeart/2008/layout/LinedList"/>
    <dgm:cxn modelId="{28FDD159-2E5E-4403-9EFA-2FDFC249DBDA}" type="presParOf" srcId="{6DF3FAE8-F2CB-417F-A00C-098485143DB8}" destId="{417AF079-74DC-4695-B6F1-DB065405261C}" srcOrd="6" destOrd="0" presId="urn:microsoft.com/office/officeart/2008/layout/LinedList"/>
    <dgm:cxn modelId="{10848847-730C-41FA-8A78-E688BA325554}" type="presParOf" srcId="{6DF3FAE8-F2CB-417F-A00C-098485143DB8}" destId="{34670CEF-9AAA-471E-A8C1-5110E2A6A60F}" srcOrd="7" destOrd="0" presId="urn:microsoft.com/office/officeart/2008/layout/LinedList"/>
    <dgm:cxn modelId="{5E413DF7-9F36-4683-AD5D-5E60475522D7}" type="presParOf" srcId="{34670CEF-9AAA-471E-A8C1-5110E2A6A60F}" destId="{F5DB2964-27F6-405E-BDDA-52525D848EF6}" srcOrd="0" destOrd="0" presId="urn:microsoft.com/office/officeart/2008/layout/LinedList"/>
    <dgm:cxn modelId="{6AA2F1B8-36BF-4894-9296-5E779CD081E8}" type="presParOf" srcId="{34670CEF-9AAA-471E-A8C1-5110E2A6A60F}" destId="{782CFD6F-6617-4DF2-9F6E-8A2E4BAE117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F3C51D-5E8F-486C-83E5-715C9D15D62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97192E9-1AF6-4870-9D2B-9D8B51FAD5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Store capacity shows:</a:t>
          </a:r>
        </a:p>
      </dgm:t>
    </dgm:pt>
    <dgm:pt modelId="{5469A88F-5052-4AAD-8C36-27C6DBFE2986}" type="parTrans" cxnId="{FD492F01-3158-4A20-8B58-FBA9E0BC4738}">
      <dgm:prSet/>
      <dgm:spPr/>
      <dgm:t>
        <a:bodyPr/>
        <a:lstStyle/>
        <a:p>
          <a:endParaRPr lang="en-US"/>
        </a:p>
      </dgm:t>
    </dgm:pt>
    <dgm:pt modelId="{BADF8CC6-2075-4108-84F7-37F54DDC4053}" type="sibTrans" cxnId="{FD492F01-3158-4A20-8B58-FBA9E0BC4738}">
      <dgm:prSet/>
      <dgm:spPr/>
      <dgm:t>
        <a:bodyPr/>
        <a:lstStyle/>
        <a:p>
          <a:endParaRPr lang="en-US"/>
        </a:p>
      </dgm:t>
    </dgm:pt>
    <dgm:pt modelId="{A812ADB2-58C6-46A2-BA8E-C579BAAF2B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1,103 trolleys available</a:t>
          </a:r>
        </a:p>
      </dgm:t>
    </dgm:pt>
    <dgm:pt modelId="{A8CFD0F8-47BA-4799-92DC-3B70D6E93F22}" type="parTrans" cxnId="{A2ED2597-1436-410E-8F94-458270AA16F0}">
      <dgm:prSet/>
      <dgm:spPr/>
      <dgm:t>
        <a:bodyPr/>
        <a:lstStyle/>
        <a:p>
          <a:endParaRPr lang="en-US"/>
        </a:p>
      </dgm:t>
    </dgm:pt>
    <dgm:pt modelId="{A4167067-AC39-49A1-B56B-5573BB11A7CA}" type="sibTrans" cxnId="{A2ED2597-1436-410E-8F94-458270AA16F0}">
      <dgm:prSet/>
      <dgm:spPr/>
      <dgm:t>
        <a:bodyPr/>
        <a:lstStyle/>
        <a:p>
          <a:endParaRPr lang="en-US"/>
        </a:p>
      </dgm:t>
    </dgm:pt>
    <dgm:pt modelId="{98E21CEB-3A02-4909-8EDE-2B042A60EE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273 shopping baskets only</a:t>
          </a:r>
        </a:p>
      </dgm:t>
    </dgm:pt>
    <dgm:pt modelId="{342E2EFC-5505-4B77-A6C8-A3E2CAB80513}" type="parTrans" cxnId="{62730DF9-2B3B-48CD-8B98-731376498EFF}">
      <dgm:prSet/>
      <dgm:spPr/>
      <dgm:t>
        <a:bodyPr/>
        <a:lstStyle/>
        <a:p>
          <a:endParaRPr lang="en-US"/>
        </a:p>
      </dgm:t>
    </dgm:pt>
    <dgm:pt modelId="{CC5E144D-6CD1-4F77-89AC-B5DDC5D76051}" type="sibTrans" cxnId="{62730DF9-2B3B-48CD-8B98-731376498EFF}">
      <dgm:prSet/>
      <dgm:spPr/>
      <dgm:t>
        <a:bodyPr/>
        <a:lstStyle/>
        <a:p>
          <a:endParaRPr lang="en-US"/>
        </a:p>
      </dgm:t>
    </dgm:pt>
    <dgm:pt modelId="{6C1BDF3C-991F-4867-8D3A-17CD0A17D2C1}" type="pres">
      <dgm:prSet presAssocID="{1AF3C51D-5E8F-486C-83E5-715C9D15D62C}" presName="root" presStyleCnt="0">
        <dgm:presLayoutVars>
          <dgm:dir/>
          <dgm:resizeHandles val="exact"/>
        </dgm:presLayoutVars>
      </dgm:prSet>
      <dgm:spPr/>
    </dgm:pt>
    <dgm:pt modelId="{AF0318A9-F5EE-4B95-9D02-CDECF66EC07A}" type="pres">
      <dgm:prSet presAssocID="{297192E9-1AF6-4870-9D2B-9D8B51FAD5E4}" presName="compNode" presStyleCnt="0"/>
      <dgm:spPr/>
    </dgm:pt>
    <dgm:pt modelId="{C4F31164-7DF1-4A7D-9325-8463F99560F6}" type="pres">
      <dgm:prSet presAssocID="{297192E9-1AF6-4870-9D2B-9D8B51FAD5E4}" presName="bgRect" presStyleLbl="bgShp" presStyleIdx="0" presStyleCnt="3"/>
      <dgm:spPr/>
    </dgm:pt>
    <dgm:pt modelId="{4DC91B49-3819-41D1-91C9-239AA33DC482}" type="pres">
      <dgm:prSet presAssocID="{297192E9-1AF6-4870-9D2B-9D8B51FAD5E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9D5A71D5-32C6-400D-ADA8-A1EDE4F28918}" type="pres">
      <dgm:prSet presAssocID="{297192E9-1AF6-4870-9D2B-9D8B51FAD5E4}" presName="spaceRect" presStyleCnt="0"/>
      <dgm:spPr/>
    </dgm:pt>
    <dgm:pt modelId="{E9878E48-2A6B-4416-B81D-8D28C01924F1}" type="pres">
      <dgm:prSet presAssocID="{297192E9-1AF6-4870-9D2B-9D8B51FAD5E4}" presName="parTx" presStyleLbl="revTx" presStyleIdx="0" presStyleCnt="3">
        <dgm:presLayoutVars>
          <dgm:chMax val="0"/>
          <dgm:chPref val="0"/>
        </dgm:presLayoutVars>
      </dgm:prSet>
      <dgm:spPr/>
    </dgm:pt>
    <dgm:pt modelId="{B2953CCA-ED2C-422B-9AE9-36A3444A3D6F}" type="pres">
      <dgm:prSet presAssocID="{BADF8CC6-2075-4108-84F7-37F54DDC4053}" presName="sibTrans" presStyleCnt="0"/>
      <dgm:spPr/>
    </dgm:pt>
    <dgm:pt modelId="{25958E1C-EA15-4C3F-BABB-498E2B3DE8A2}" type="pres">
      <dgm:prSet presAssocID="{A812ADB2-58C6-46A2-BA8E-C579BAAF2B67}" presName="compNode" presStyleCnt="0"/>
      <dgm:spPr/>
    </dgm:pt>
    <dgm:pt modelId="{3804249B-A3ED-4B26-8441-B0F36952B53F}" type="pres">
      <dgm:prSet presAssocID="{A812ADB2-58C6-46A2-BA8E-C579BAAF2B67}" presName="bgRect" presStyleLbl="bgShp" presStyleIdx="1" presStyleCnt="3"/>
      <dgm:spPr/>
    </dgm:pt>
    <dgm:pt modelId="{D2C4A53F-8688-45C5-8600-A80235E84AEB}" type="pres">
      <dgm:prSet presAssocID="{A812ADB2-58C6-46A2-BA8E-C579BAAF2B6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C4F0E24B-1833-4570-B509-464362A1C7F7}" type="pres">
      <dgm:prSet presAssocID="{A812ADB2-58C6-46A2-BA8E-C579BAAF2B67}" presName="spaceRect" presStyleCnt="0"/>
      <dgm:spPr/>
    </dgm:pt>
    <dgm:pt modelId="{83AF0D17-6A2A-4AEE-BC80-12CB62B9EADF}" type="pres">
      <dgm:prSet presAssocID="{A812ADB2-58C6-46A2-BA8E-C579BAAF2B67}" presName="parTx" presStyleLbl="revTx" presStyleIdx="1" presStyleCnt="3">
        <dgm:presLayoutVars>
          <dgm:chMax val="0"/>
          <dgm:chPref val="0"/>
        </dgm:presLayoutVars>
      </dgm:prSet>
      <dgm:spPr/>
    </dgm:pt>
    <dgm:pt modelId="{3B332A57-CFD3-4AFB-A2B2-A12158118B23}" type="pres">
      <dgm:prSet presAssocID="{A4167067-AC39-49A1-B56B-5573BB11A7CA}" presName="sibTrans" presStyleCnt="0"/>
      <dgm:spPr/>
    </dgm:pt>
    <dgm:pt modelId="{AE3C77BC-DE63-40B0-A94E-D9E443618181}" type="pres">
      <dgm:prSet presAssocID="{98E21CEB-3A02-4909-8EDE-2B042A60EE6B}" presName="compNode" presStyleCnt="0"/>
      <dgm:spPr/>
    </dgm:pt>
    <dgm:pt modelId="{F708A124-AF19-4589-A886-A8817028CC5C}" type="pres">
      <dgm:prSet presAssocID="{98E21CEB-3A02-4909-8EDE-2B042A60EE6B}" presName="bgRect" presStyleLbl="bgShp" presStyleIdx="2" presStyleCnt="3"/>
      <dgm:spPr/>
    </dgm:pt>
    <dgm:pt modelId="{001017B5-94D1-41EB-BD69-376B8FB9AB3C}" type="pres">
      <dgm:prSet presAssocID="{98E21CEB-3A02-4909-8EDE-2B042A60EE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79BB6980-11DA-4335-9546-12D0EF9BC850}" type="pres">
      <dgm:prSet presAssocID="{98E21CEB-3A02-4909-8EDE-2B042A60EE6B}" presName="spaceRect" presStyleCnt="0"/>
      <dgm:spPr/>
    </dgm:pt>
    <dgm:pt modelId="{727BE4A4-8380-4BFF-84A2-96DC9ABE9187}" type="pres">
      <dgm:prSet presAssocID="{98E21CEB-3A02-4909-8EDE-2B042A60EE6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D492F01-3158-4A20-8B58-FBA9E0BC4738}" srcId="{1AF3C51D-5E8F-486C-83E5-715C9D15D62C}" destId="{297192E9-1AF6-4870-9D2B-9D8B51FAD5E4}" srcOrd="0" destOrd="0" parTransId="{5469A88F-5052-4AAD-8C36-27C6DBFE2986}" sibTransId="{BADF8CC6-2075-4108-84F7-37F54DDC4053}"/>
    <dgm:cxn modelId="{9CA83467-62DC-43F6-8A15-342221547EA7}" type="presOf" srcId="{A812ADB2-58C6-46A2-BA8E-C579BAAF2B67}" destId="{83AF0D17-6A2A-4AEE-BC80-12CB62B9EADF}" srcOrd="0" destOrd="0" presId="urn:microsoft.com/office/officeart/2018/2/layout/IconVerticalSolidList"/>
    <dgm:cxn modelId="{44B3D775-0252-4EC1-8306-718CFFA7BCF8}" type="presOf" srcId="{297192E9-1AF6-4870-9D2B-9D8B51FAD5E4}" destId="{E9878E48-2A6B-4416-B81D-8D28C01924F1}" srcOrd="0" destOrd="0" presId="urn:microsoft.com/office/officeart/2018/2/layout/IconVerticalSolidList"/>
    <dgm:cxn modelId="{A2ED2597-1436-410E-8F94-458270AA16F0}" srcId="{1AF3C51D-5E8F-486C-83E5-715C9D15D62C}" destId="{A812ADB2-58C6-46A2-BA8E-C579BAAF2B67}" srcOrd="1" destOrd="0" parTransId="{A8CFD0F8-47BA-4799-92DC-3B70D6E93F22}" sibTransId="{A4167067-AC39-49A1-B56B-5573BB11A7CA}"/>
    <dgm:cxn modelId="{911BC7C3-16C0-4DC9-8A52-E25794547243}" type="presOf" srcId="{98E21CEB-3A02-4909-8EDE-2B042A60EE6B}" destId="{727BE4A4-8380-4BFF-84A2-96DC9ABE9187}" srcOrd="0" destOrd="0" presId="urn:microsoft.com/office/officeart/2018/2/layout/IconVerticalSolidList"/>
    <dgm:cxn modelId="{F5ADCAEA-7393-475D-9F98-D1F720CCAA81}" type="presOf" srcId="{1AF3C51D-5E8F-486C-83E5-715C9D15D62C}" destId="{6C1BDF3C-991F-4867-8D3A-17CD0A17D2C1}" srcOrd="0" destOrd="0" presId="urn:microsoft.com/office/officeart/2018/2/layout/IconVerticalSolidList"/>
    <dgm:cxn modelId="{62730DF9-2B3B-48CD-8B98-731376498EFF}" srcId="{1AF3C51D-5E8F-486C-83E5-715C9D15D62C}" destId="{98E21CEB-3A02-4909-8EDE-2B042A60EE6B}" srcOrd="2" destOrd="0" parTransId="{342E2EFC-5505-4B77-A6C8-A3E2CAB80513}" sibTransId="{CC5E144D-6CD1-4F77-89AC-B5DDC5D76051}"/>
    <dgm:cxn modelId="{F2A16CBB-D9A5-4E75-B019-59904E7C1254}" type="presParOf" srcId="{6C1BDF3C-991F-4867-8D3A-17CD0A17D2C1}" destId="{AF0318A9-F5EE-4B95-9D02-CDECF66EC07A}" srcOrd="0" destOrd="0" presId="urn:microsoft.com/office/officeart/2018/2/layout/IconVerticalSolidList"/>
    <dgm:cxn modelId="{A42FC364-7B5A-4DBD-A278-CEF9FC031670}" type="presParOf" srcId="{AF0318A9-F5EE-4B95-9D02-CDECF66EC07A}" destId="{C4F31164-7DF1-4A7D-9325-8463F99560F6}" srcOrd="0" destOrd="0" presId="urn:microsoft.com/office/officeart/2018/2/layout/IconVerticalSolidList"/>
    <dgm:cxn modelId="{EAF5FCAD-974D-4A89-B8F3-2D8961A04C4A}" type="presParOf" srcId="{AF0318A9-F5EE-4B95-9D02-CDECF66EC07A}" destId="{4DC91B49-3819-41D1-91C9-239AA33DC482}" srcOrd="1" destOrd="0" presId="urn:microsoft.com/office/officeart/2018/2/layout/IconVerticalSolidList"/>
    <dgm:cxn modelId="{555887A8-60BF-4DDA-B52C-23E8D0498B4B}" type="presParOf" srcId="{AF0318A9-F5EE-4B95-9D02-CDECF66EC07A}" destId="{9D5A71D5-32C6-400D-ADA8-A1EDE4F28918}" srcOrd="2" destOrd="0" presId="urn:microsoft.com/office/officeart/2018/2/layout/IconVerticalSolidList"/>
    <dgm:cxn modelId="{41419A79-C74E-4521-9F06-5F4858410390}" type="presParOf" srcId="{AF0318A9-F5EE-4B95-9D02-CDECF66EC07A}" destId="{E9878E48-2A6B-4416-B81D-8D28C01924F1}" srcOrd="3" destOrd="0" presId="urn:microsoft.com/office/officeart/2018/2/layout/IconVerticalSolidList"/>
    <dgm:cxn modelId="{2B091137-9E34-4BEE-894C-7876E2AC99E2}" type="presParOf" srcId="{6C1BDF3C-991F-4867-8D3A-17CD0A17D2C1}" destId="{B2953CCA-ED2C-422B-9AE9-36A3444A3D6F}" srcOrd="1" destOrd="0" presId="urn:microsoft.com/office/officeart/2018/2/layout/IconVerticalSolidList"/>
    <dgm:cxn modelId="{C6A44E59-C1E6-4703-AC44-6DED30180309}" type="presParOf" srcId="{6C1BDF3C-991F-4867-8D3A-17CD0A17D2C1}" destId="{25958E1C-EA15-4C3F-BABB-498E2B3DE8A2}" srcOrd="2" destOrd="0" presId="urn:microsoft.com/office/officeart/2018/2/layout/IconVerticalSolidList"/>
    <dgm:cxn modelId="{CC034A74-8A76-435F-8FEC-89E999A6B32B}" type="presParOf" srcId="{25958E1C-EA15-4C3F-BABB-498E2B3DE8A2}" destId="{3804249B-A3ED-4B26-8441-B0F36952B53F}" srcOrd="0" destOrd="0" presId="urn:microsoft.com/office/officeart/2018/2/layout/IconVerticalSolidList"/>
    <dgm:cxn modelId="{0FDE0151-E54E-415D-8B99-14A4CC16E06C}" type="presParOf" srcId="{25958E1C-EA15-4C3F-BABB-498E2B3DE8A2}" destId="{D2C4A53F-8688-45C5-8600-A80235E84AEB}" srcOrd="1" destOrd="0" presId="urn:microsoft.com/office/officeart/2018/2/layout/IconVerticalSolidList"/>
    <dgm:cxn modelId="{677787D4-9AF3-49B6-98AF-B99BAC5769FB}" type="presParOf" srcId="{25958E1C-EA15-4C3F-BABB-498E2B3DE8A2}" destId="{C4F0E24B-1833-4570-B509-464362A1C7F7}" srcOrd="2" destOrd="0" presId="urn:microsoft.com/office/officeart/2018/2/layout/IconVerticalSolidList"/>
    <dgm:cxn modelId="{A015D22F-F14C-48E0-8E10-C55453F6A304}" type="presParOf" srcId="{25958E1C-EA15-4C3F-BABB-498E2B3DE8A2}" destId="{83AF0D17-6A2A-4AEE-BC80-12CB62B9EADF}" srcOrd="3" destOrd="0" presId="urn:microsoft.com/office/officeart/2018/2/layout/IconVerticalSolidList"/>
    <dgm:cxn modelId="{ABB05E4E-9DE6-43CE-9BE0-ABC595D2C6F9}" type="presParOf" srcId="{6C1BDF3C-991F-4867-8D3A-17CD0A17D2C1}" destId="{3B332A57-CFD3-4AFB-A2B2-A12158118B23}" srcOrd="3" destOrd="0" presId="urn:microsoft.com/office/officeart/2018/2/layout/IconVerticalSolidList"/>
    <dgm:cxn modelId="{F3971DAE-5332-4812-A177-19E09BF57E08}" type="presParOf" srcId="{6C1BDF3C-991F-4867-8D3A-17CD0A17D2C1}" destId="{AE3C77BC-DE63-40B0-A94E-D9E443618181}" srcOrd="4" destOrd="0" presId="urn:microsoft.com/office/officeart/2018/2/layout/IconVerticalSolidList"/>
    <dgm:cxn modelId="{A638877F-2225-4371-9926-92753D20CC02}" type="presParOf" srcId="{AE3C77BC-DE63-40B0-A94E-D9E443618181}" destId="{F708A124-AF19-4589-A886-A8817028CC5C}" srcOrd="0" destOrd="0" presId="urn:microsoft.com/office/officeart/2018/2/layout/IconVerticalSolidList"/>
    <dgm:cxn modelId="{6080663C-CD22-4AC6-897E-F94266718B8E}" type="presParOf" srcId="{AE3C77BC-DE63-40B0-A94E-D9E443618181}" destId="{001017B5-94D1-41EB-BD69-376B8FB9AB3C}" srcOrd="1" destOrd="0" presId="urn:microsoft.com/office/officeart/2018/2/layout/IconVerticalSolidList"/>
    <dgm:cxn modelId="{41D7C8EE-6D60-4FCE-88F4-AFEA3B797CDD}" type="presParOf" srcId="{AE3C77BC-DE63-40B0-A94E-D9E443618181}" destId="{79BB6980-11DA-4335-9546-12D0EF9BC850}" srcOrd="2" destOrd="0" presId="urn:microsoft.com/office/officeart/2018/2/layout/IconVerticalSolidList"/>
    <dgm:cxn modelId="{A08DD823-51DB-47A1-877E-586D55E5F208}" type="presParOf" srcId="{AE3C77BC-DE63-40B0-A94E-D9E443618181}" destId="{727BE4A4-8380-4BFF-84A2-96DC9ABE91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AFE435-9D98-4936-8408-C3E53E52A814}" type="doc">
      <dgm:prSet loTypeId="urn:microsoft.com/office/officeart/2008/layout/LinedLis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32DC32-1F5F-4953-A64F-7579B5AF1E8E}">
      <dgm:prSet/>
      <dgm:spPr/>
      <dgm:t>
        <a:bodyPr/>
        <a:lstStyle/>
        <a:p>
          <a:r>
            <a:rPr lang="en-ZA"/>
            <a:t>Technical faults: tills, scanners, and switchboard failures slow service</a:t>
          </a:r>
          <a:endParaRPr lang="en-US"/>
        </a:p>
      </dgm:t>
    </dgm:pt>
    <dgm:pt modelId="{6BA28435-73BD-49C4-A835-ECF897910E9F}" type="parTrans" cxnId="{FA9A74FA-8B9D-459A-9015-AFB33F4BBDFA}">
      <dgm:prSet/>
      <dgm:spPr/>
      <dgm:t>
        <a:bodyPr/>
        <a:lstStyle/>
        <a:p>
          <a:endParaRPr lang="en-US"/>
        </a:p>
      </dgm:t>
    </dgm:pt>
    <dgm:pt modelId="{99A29C75-9811-46B2-9A3C-B9E050E9179F}" type="sibTrans" cxnId="{FA9A74FA-8B9D-459A-9015-AFB33F4BBDFA}">
      <dgm:prSet/>
      <dgm:spPr/>
      <dgm:t>
        <a:bodyPr/>
        <a:lstStyle/>
        <a:p>
          <a:endParaRPr lang="en-US"/>
        </a:p>
      </dgm:t>
    </dgm:pt>
    <dgm:pt modelId="{3318F3C5-9FD6-4E16-B2EC-E54D9DAFF7C9}">
      <dgm:prSet/>
      <dgm:spPr/>
      <dgm:t>
        <a:bodyPr/>
        <a:lstStyle/>
        <a:p>
          <a:r>
            <a:rPr lang="en-ZA"/>
            <a:t>Connectivity problems remain unresolved, disrupting multiple systems</a:t>
          </a:r>
          <a:endParaRPr lang="en-US"/>
        </a:p>
      </dgm:t>
    </dgm:pt>
    <dgm:pt modelId="{2E5AAABB-4D25-4D00-9774-32DBABD95A1B}" type="parTrans" cxnId="{610BC885-85E6-4263-A36E-E24ABD1CF4BF}">
      <dgm:prSet/>
      <dgm:spPr/>
      <dgm:t>
        <a:bodyPr/>
        <a:lstStyle/>
        <a:p>
          <a:endParaRPr lang="en-US"/>
        </a:p>
      </dgm:t>
    </dgm:pt>
    <dgm:pt modelId="{C81170E3-BE9E-45A5-BC77-037FDC1D4403}" type="sibTrans" cxnId="{610BC885-85E6-4263-A36E-E24ABD1CF4BF}">
      <dgm:prSet/>
      <dgm:spPr/>
      <dgm:t>
        <a:bodyPr/>
        <a:lstStyle/>
        <a:p>
          <a:endParaRPr lang="en-US"/>
        </a:p>
      </dgm:t>
    </dgm:pt>
    <dgm:pt modelId="{719C32EC-DFA3-466D-A78D-9CFA93C8DA17}">
      <dgm:prSet/>
      <dgm:spPr/>
      <dgm:t>
        <a:bodyPr/>
        <a:lstStyle/>
        <a:p>
          <a:r>
            <a:rPr lang="en-ZA"/>
            <a:t>Clothing space limitations affect customer flow and presentation</a:t>
          </a:r>
          <a:endParaRPr lang="en-US"/>
        </a:p>
      </dgm:t>
    </dgm:pt>
    <dgm:pt modelId="{67ED31E5-590D-4651-ABE5-C129FAF3CA71}" type="parTrans" cxnId="{7CD27BAD-FB2A-4379-8737-3A8884EF83AA}">
      <dgm:prSet/>
      <dgm:spPr/>
      <dgm:t>
        <a:bodyPr/>
        <a:lstStyle/>
        <a:p>
          <a:endParaRPr lang="en-US"/>
        </a:p>
      </dgm:t>
    </dgm:pt>
    <dgm:pt modelId="{0654D00A-FD14-418A-BDFE-845DB404328B}" type="sibTrans" cxnId="{7CD27BAD-FB2A-4379-8737-3A8884EF83AA}">
      <dgm:prSet/>
      <dgm:spPr/>
      <dgm:t>
        <a:bodyPr/>
        <a:lstStyle/>
        <a:p>
          <a:endParaRPr lang="en-US"/>
        </a:p>
      </dgm:t>
    </dgm:pt>
    <dgm:pt modelId="{483D2498-B6C7-4FC0-9C1B-8554ECB5FA52}">
      <dgm:prSet/>
      <dgm:spPr/>
      <dgm:t>
        <a:bodyPr/>
        <a:lstStyle/>
        <a:p>
          <a:r>
            <a:rPr lang="en-ZA" dirty="0"/>
            <a:t>Foods team burdened with manual workarounds due to non-functional systems</a:t>
          </a:r>
          <a:endParaRPr lang="en-US" dirty="0"/>
        </a:p>
      </dgm:t>
    </dgm:pt>
    <dgm:pt modelId="{AD33F0F5-AAD9-4AC5-A4EA-2689D460C3F5}" type="parTrans" cxnId="{10668A6B-F7D0-46E2-96BA-48DA7F6D3605}">
      <dgm:prSet/>
      <dgm:spPr/>
      <dgm:t>
        <a:bodyPr/>
        <a:lstStyle/>
        <a:p>
          <a:endParaRPr lang="en-US"/>
        </a:p>
      </dgm:t>
    </dgm:pt>
    <dgm:pt modelId="{C8E1FBB8-F43E-408F-901A-AEB61B5852CF}" type="sibTrans" cxnId="{10668A6B-F7D0-46E2-96BA-48DA7F6D3605}">
      <dgm:prSet/>
      <dgm:spPr/>
      <dgm:t>
        <a:bodyPr/>
        <a:lstStyle/>
        <a:p>
          <a:endParaRPr lang="en-US"/>
        </a:p>
      </dgm:t>
    </dgm:pt>
    <dgm:pt modelId="{04CCF2C8-DF9E-42CF-AE49-8326B3FD6FEC}" type="pres">
      <dgm:prSet presAssocID="{A1AFE435-9D98-4936-8408-C3E53E52A814}" presName="vert0" presStyleCnt="0">
        <dgm:presLayoutVars>
          <dgm:dir/>
          <dgm:animOne val="branch"/>
          <dgm:animLvl val="lvl"/>
        </dgm:presLayoutVars>
      </dgm:prSet>
      <dgm:spPr/>
    </dgm:pt>
    <dgm:pt modelId="{DFF8C9E8-F9E0-4E6B-8C78-554E6AB1910B}" type="pres">
      <dgm:prSet presAssocID="{7232DC32-1F5F-4953-A64F-7579B5AF1E8E}" presName="thickLine" presStyleLbl="alignNode1" presStyleIdx="0" presStyleCnt="4"/>
      <dgm:spPr/>
    </dgm:pt>
    <dgm:pt modelId="{37667955-A20A-4F64-B766-3AAED366C649}" type="pres">
      <dgm:prSet presAssocID="{7232DC32-1F5F-4953-A64F-7579B5AF1E8E}" presName="horz1" presStyleCnt="0"/>
      <dgm:spPr/>
    </dgm:pt>
    <dgm:pt modelId="{5EEC2AD4-18C3-4694-9E9A-97C049993DC7}" type="pres">
      <dgm:prSet presAssocID="{7232DC32-1F5F-4953-A64F-7579B5AF1E8E}" presName="tx1" presStyleLbl="revTx" presStyleIdx="0" presStyleCnt="4"/>
      <dgm:spPr/>
    </dgm:pt>
    <dgm:pt modelId="{1FC78085-9ABC-464D-856D-12BF18A283CA}" type="pres">
      <dgm:prSet presAssocID="{7232DC32-1F5F-4953-A64F-7579B5AF1E8E}" presName="vert1" presStyleCnt="0"/>
      <dgm:spPr/>
    </dgm:pt>
    <dgm:pt modelId="{BF85D48A-B481-470A-8988-231B7D55071A}" type="pres">
      <dgm:prSet presAssocID="{3318F3C5-9FD6-4E16-B2EC-E54D9DAFF7C9}" presName="thickLine" presStyleLbl="alignNode1" presStyleIdx="1" presStyleCnt="4"/>
      <dgm:spPr/>
    </dgm:pt>
    <dgm:pt modelId="{3468D4F1-92B3-426E-BAE2-27C16C1408FB}" type="pres">
      <dgm:prSet presAssocID="{3318F3C5-9FD6-4E16-B2EC-E54D9DAFF7C9}" presName="horz1" presStyleCnt="0"/>
      <dgm:spPr/>
    </dgm:pt>
    <dgm:pt modelId="{D309753D-CBCD-44EA-93C2-3915B21661C7}" type="pres">
      <dgm:prSet presAssocID="{3318F3C5-9FD6-4E16-B2EC-E54D9DAFF7C9}" presName="tx1" presStyleLbl="revTx" presStyleIdx="1" presStyleCnt="4"/>
      <dgm:spPr/>
    </dgm:pt>
    <dgm:pt modelId="{4AFB841C-8AE3-4E48-8C61-4EAF524EFEEB}" type="pres">
      <dgm:prSet presAssocID="{3318F3C5-9FD6-4E16-B2EC-E54D9DAFF7C9}" presName="vert1" presStyleCnt="0"/>
      <dgm:spPr/>
    </dgm:pt>
    <dgm:pt modelId="{D539C236-7146-4221-A7A0-452A1CBE659E}" type="pres">
      <dgm:prSet presAssocID="{719C32EC-DFA3-466D-A78D-9CFA93C8DA17}" presName="thickLine" presStyleLbl="alignNode1" presStyleIdx="2" presStyleCnt="4"/>
      <dgm:spPr/>
    </dgm:pt>
    <dgm:pt modelId="{C895F7B1-DF94-45B9-8384-9F3EE10FEEB3}" type="pres">
      <dgm:prSet presAssocID="{719C32EC-DFA3-466D-A78D-9CFA93C8DA17}" presName="horz1" presStyleCnt="0"/>
      <dgm:spPr/>
    </dgm:pt>
    <dgm:pt modelId="{A7024F5B-5737-472F-AC89-4402A94A51FF}" type="pres">
      <dgm:prSet presAssocID="{719C32EC-DFA3-466D-A78D-9CFA93C8DA17}" presName="tx1" presStyleLbl="revTx" presStyleIdx="2" presStyleCnt="4"/>
      <dgm:spPr/>
    </dgm:pt>
    <dgm:pt modelId="{6BC6FBF0-AB58-4860-A2B3-A56547D57B15}" type="pres">
      <dgm:prSet presAssocID="{719C32EC-DFA3-466D-A78D-9CFA93C8DA17}" presName="vert1" presStyleCnt="0"/>
      <dgm:spPr/>
    </dgm:pt>
    <dgm:pt modelId="{00960338-E5AB-4C6E-A518-FC49161EA00E}" type="pres">
      <dgm:prSet presAssocID="{483D2498-B6C7-4FC0-9C1B-8554ECB5FA52}" presName="thickLine" presStyleLbl="alignNode1" presStyleIdx="3" presStyleCnt="4"/>
      <dgm:spPr/>
    </dgm:pt>
    <dgm:pt modelId="{4D34F06E-A166-45CC-A22E-43AAC5EAB379}" type="pres">
      <dgm:prSet presAssocID="{483D2498-B6C7-4FC0-9C1B-8554ECB5FA52}" presName="horz1" presStyleCnt="0"/>
      <dgm:spPr/>
    </dgm:pt>
    <dgm:pt modelId="{49F2CC2D-4F2D-454C-911F-190338D1423B}" type="pres">
      <dgm:prSet presAssocID="{483D2498-B6C7-4FC0-9C1B-8554ECB5FA52}" presName="tx1" presStyleLbl="revTx" presStyleIdx="3" presStyleCnt="4"/>
      <dgm:spPr/>
    </dgm:pt>
    <dgm:pt modelId="{D6C155E4-07BE-4EFF-91F1-81F0F9DC7307}" type="pres">
      <dgm:prSet presAssocID="{483D2498-B6C7-4FC0-9C1B-8554ECB5FA52}" presName="vert1" presStyleCnt="0"/>
      <dgm:spPr/>
    </dgm:pt>
  </dgm:ptLst>
  <dgm:cxnLst>
    <dgm:cxn modelId="{62EA6208-92A7-4CCB-A110-B876A4A446BC}" type="presOf" srcId="{719C32EC-DFA3-466D-A78D-9CFA93C8DA17}" destId="{A7024F5B-5737-472F-AC89-4402A94A51FF}" srcOrd="0" destOrd="0" presId="urn:microsoft.com/office/officeart/2008/layout/LinedList"/>
    <dgm:cxn modelId="{6B477A2D-40AF-4FFE-BE3A-1137587A1F05}" type="presOf" srcId="{7232DC32-1F5F-4953-A64F-7579B5AF1E8E}" destId="{5EEC2AD4-18C3-4694-9E9A-97C049993DC7}" srcOrd="0" destOrd="0" presId="urn:microsoft.com/office/officeart/2008/layout/LinedList"/>
    <dgm:cxn modelId="{10668A6B-F7D0-46E2-96BA-48DA7F6D3605}" srcId="{A1AFE435-9D98-4936-8408-C3E53E52A814}" destId="{483D2498-B6C7-4FC0-9C1B-8554ECB5FA52}" srcOrd="3" destOrd="0" parTransId="{AD33F0F5-AAD9-4AC5-A4EA-2689D460C3F5}" sibTransId="{C8E1FBB8-F43E-408F-901A-AEB61B5852CF}"/>
    <dgm:cxn modelId="{610BC885-85E6-4263-A36E-E24ABD1CF4BF}" srcId="{A1AFE435-9D98-4936-8408-C3E53E52A814}" destId="{3318F3C5-9FD6-4E16-B2EC-E54D9DAFF7C9}" srcOrd="1" destOrd="0" parTransId="{2E5AAABB-4D25-4D00-9774-32DBABD95A1B}" sibTransId="{C81170E3-BE9E-45A5-BC77-037FDC1D4403}"/>
    <dgm:cxn modelId="{325F859E-3742-4A58-BADB-B23E7A46EC08}" type="presOf" srcId="{483D2498-B6C7-4FC0-9C1B-8554ECB5FA52}" destId="{49F2CC2D-4F2D-454C-911F-190338D1423B}" srcOrd="0" destOrd="0" presId="urn:microsoft.com/office/officeart/2008/layout/LinedList"/>
    <dgm:cxn modelId="{7CD27BAD-FB2A-4379-8737-3A8884EF83AA}" srcId="{A1AFE435-9D98-4936-8408-C3E53E52A814}" destId="{719C32EC-DFA3-466D-A78D-9CFA93C8DA17}" srcOrd="2" destOrd="0" parTransId="{67ED31E5-590D-4651-ABE5-C129FAF3CA71}" sibTransId="{0654D00A-FD14-418A-BDFE-845DB404328B}"/>
    <dgm:cxn modelId="{73A18BED-FB10-4A03-9BE7-95FD0269AE74}" type="presOf" srcId="{3318F3C5-9FD6-4E16-B2EC-E54D9DAFF7C9}" destId="{D309753D-CBCD-44EA-93C2-3915B21661C7}" srcOrd="0" destOrd="0" presId="urn:microsoft.com/office/officeart/2008/layout/LinedList"/>
    <dgm:cxn modelId="{57C819F7-AA66-4BB5-A26E-6F2D885C692E}" type="presOf" srcId="{A1AFE435-9D98-4936-8408-C3E53E52A814}" destId="{04CCF2C8-DF9E-42CF-AE49-8326B3FD6FEC}" srcOrd="0" destOrd="0" presId="urn:microsoft.com/office/officeart/2008/layout/LinedList"/>
    <dgm:cxn modelId="{FA9A74FA-8B9D-459A-9015-AFB33F4BBDFA}" srcId="{A1AFE435-9D98-4936-8408-C3E53E52A814}" destId="{7232DC32-1F5F-4953-A64F-7579B5AF1E8E}" srcOrd="0" destOrd="0" parTransId="{6BA28435-73BD-49C4-A835-ECF897910E9F}" sibTransId="{99A29C75-9811-46B2-9A3C-B9E050E9179F}"/>
    <dgm:cxn modelId="{6F934626-35CE-4212-BAB3-A5C65B3358A7}" type="presParOf" srcId="{04CCF2C8-DF9E-42CF-AE49-8326B3FD6FEC}" destId="{DFF8C9E8-F9E0-4E6B-8C78-554E6AB1910B}" srcOrd="0" destOrd="0" presId="urn:microsoft.com/office/officeart/2008/layout/LinedList"/>
    <dgm:cxn modelId="{68670AF6-330A-4E22-B552-7A7A5B81B8D9}" type="presParOf" srcId="{04CCF2C8-DF9E-42CF-AE49-8326B3FD6FEC}" destId="{37667955-A20A-4F64-B766-3AAED366C649}" srcOrd="1" destOrd="0" presId="urn:microsoft.com/office/officeart/2008/layout/LinedList"/>
    <dgm:cxn modelId="{14786E37-16B8-4342-AFF8-13A7F190A682}" type="presParOf" srcId="{37667955-A20A-4F64-B766-3AAED366C649}" destId="{5EEC2AD4-18C3-4694-9E9A-97C049993DC7}" srcOrd="0" destOrd="0" presId="urn:microsoft.com/office/officeart/2008/layout/LinedList"/>
    <dgm:cxn modelId="{DDC73486-1268-48A2-AB7C-258613EC8AC8}" type="presParOf" srcId="{37667955-A20A-4F64-B766-3AAED366C649}" destId="{1FC78085-9ABC-464D-856D-12BF18A283CA}" srcOrd="1" destOrd="0" presId="urn:microsoft.com/office/officeart/2008/layout/LinedList"/>
    <dgm:cxn modelId="{4FFC5145-D684-49E8-ABA8-01DE52597E21}" type="presParOf" srcId="{04CCF2C8-DF9E-42CF-AE49-8326B3FD6FEC}" destId="{BF85D48A-B481-470A-8988-231B7D55071A}" srcOrd="2" destOrd="0" presId="urn:microsoft.com/office/officeart/2008/layout/LinedList"/>
    <dgm:cxn modelId="{3B76E955-06D0-431F-91CF-C82A62C09290}" type="presParOf" srcId="{04CCF2C8-DF9E-42CF-AE49-8326B3FD6FEC}" destId="{3468D4F1-92B3-426E-BAE2-27C16C1408FB}" srcOrd="3" destOrd="0" presId="urn:microsoft.com/office/officeart/2008/layout/LinedList"/>
    <dgm:cxn modelId="{449D6CE8-EC1E-48F5-BD3D-8AA0AFA8C814}" type="presParOf" srcId="{3468D4F1-92B3-426E-BAE2-27C16C1408FB}" destId="{D309753D-CBCD-44EA-93C2-3915B21661C7}" srcOrd="0" destOrd="0" presId="urn:microsoft.com/office/officeart/2008/layout/LinedList"/>
    <dgm:cxn modelId="{109F8EEA-6629-4AA7-B134-3B4937A6EF0C}" type="presParOf" srcId="{3468D4F1-92B3-426E-BAE2-27C16C1408FB}" destId="{4AFB841C-8AE3-4E48-8C61-4EAF524EFEEB}" srcOrd="1" destOrd="0" presId="urn:microsoft.com/office/officeart/2008/layout/LinedList"/>
    <dgm:cxn modelId="{40AE2EBC-4FDF-4A7E-A0E1-AC60A22BD82C}" type="presParOf" srcId="{04CCF2C8-DF9E-42CF-AE49-8326B3FD6FEC}" destId="{D539C236-7146-4221-A7A0-452A1CBE659E}" srcOrd="4" destOrd="0" presId="urn:microsoft.com/office/officeart/2008/layout/LinedList"/>
    <dgm:cxn modelId="{E6A715B2-DA65-4ADA-BCAC-6AC086C93EA7}" type="presParOf" srcId="{04CCF2C8-DF9E-42CF-AE49-8326B3FD6FEC}" destId="{C895F7B1-DF94-45B9-8384-9F3EE10FEEB3}" srcOrd="5" destOrd="0" presId="urn:microsoft.com/office/officeart/2008/layout/LinedList"/>
    <dgm:cxn modelId="{308ABA39-53B3-4E8E-A4CB-9BC09F7F0A7D}" type="presParOf" srcId="{C895F7B1-DF94-45B9-8384-9F3EE10FEEB3}" destId="{A7024F5B-5737-472F-AC89-4402A94A51FF}" srcOrd="0" destOrd="0" presId="urn:microsoft.com/office/officeart/2008/layout/LinedList"/>
    <dgm:cxn modelId="{1B257693-072B-4ACC-8749-A24E1FD0C044}" type="presParOf" srcId="{C895F7B1-DF94-45B9-8384-9F3EE10FEEB3}" destId="{6BC6FBF0-AB58-4860-A2B3-A56547D57B15}" srcOrd="1" destOrd="0" presId="urn:microsoft.com/office/officeart/2008/layout/LinedList"/>
    <dgm:cxn modelId="{C4BCC50A-25AE-4FC9-BF8E-51A8C7C2DF83}" type="presParOf" srcId="{04CCF2C8-DF9E-42CF-AE49-8326B3FD6FEC}" destId="{00960338-E5AB-4C6E-A518-FC49161EA00E}" srcOrd="6" destOrd="0" presId="urn:microsoft.com/office/officeart/2008/layout/LinedList"/>
    <dgm:cxn modelId="{CDA15C1C-052C-4E6F-B279-580980B20400}" type="presParOf" srcId="{04CCF2C8-DF9E-42CF-AE49-8326B3FD6FEC}" destId="{4D34F06E-A166-45CC-A22E-43AAC5EAB379}" srcOrd="7" destOrd="0" presId="urn:microsoft.com/office/officeart/2008/layout/LinedList"/>
    <dgm:cxn modelId="{5886FFF8-9BD3-47BA-B173-334CE0615357}" type="presParOf" srcId="{4D34F06E-A166-45CC-A22E-43AAC5EAB379}" destId="{49F2CC2D-4F2D-454C-911F-190338D1423B}" srcOrd="0" destOrd="0" presId="urn:microsoft.com/office/officeart/2008/layout/LinedList"/>
    <dgm:cxn modelId="{00775A41-99C6-4CB6-BDCC-3C7DEF390349}" type="presParOf" srcId="{4D34F06E-A166-45CC-A22E-43AAC5EAB379}" destId="{D6C155E4-07BE-4EFF-91F1-81F0F9DC73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ED325D-F156-4014-B2B4-33CE112A3032}">
      <dsp:nvSpPr>
        <dsp:cNvPr id="0" name=""/>
        <dsp:cNvSpPr/>
      </dsp:nvSpPr>
      <dsp:spPr>
        <a:xfrm>
          <a:off x="0" y="0"/>
          <a:ext cx="66865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D2D296C-5961-4185-8783-B1B5F92D478B}">
      <dsp:nvSpPr>
        <dsp:cNvPr id="0" name=""/>
        <dsp:cNvSpPr/>
      </dsp:nvSpPr>
      <dsp:spPr>
        <a:xfrm>
          <a:off x="0" y="0"/>
          <a:ext cx="6686550" cy="94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 dirty="0"/>
            <a:t>Main challenge: space constraints limiting product display and navigation</a:t>
          </a:r>
          <a:endParaRPr lang="en-US" sz="2300" kern="1200" dirty="0"/>
        </a:p>
      </dsp:txBody>
      <dsp:txXfrm>
        <a:off x="0" y="0"/>
        <a:ext cx="6686550" cy="944405"/>
      </dsp:txXfrm>
    </dsp:sp>
    <dsp:sp modelId="{1542B4D7-280F-4FE6-8495-3BB0308E09B6}">
      <dsp:nvSpPr>
        <dsp:cNvPr id="0" name=""/>
        <dsp:cNvSpPr/>
      </dsp:nvSpPr>
      <dsp:spPr>
        <a:xfrm>
          <a:off x="0" y="944405"/>
          <a:ext cx="66865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808979A-9505-4C6F-BC8A-C7293383DC44}">
      <dsp:nvSpPr>
        <dsp:cNvPr id="0" name=""/>
        <dsp:cNvSpPr/>
      </dsp:nvSpPr>
      <dsp:spPr>
        <a:xfrm>
          <a:off x="0" y="944405"/>
          <a:ext cx="6686550" cy="94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/>
            <a:t>• Kids wear sales performing well and remain a growth driver</a:t>
          </a:r>
          <a:endParaRPr lang="en-US" sz="2300" kern="1200"/>
        </a:p>
      </dsp:txBody>
      <dsp:txXfrm>
        <a:off x="0" y="944405"/>
        <a:ext cx="6686550" cy="944405"/>
      </dsp:txXfrm>
    </dsp:sp>
    <dsp:sp modelId="{DADA3D68-7A97-46AF-871A-457C27564565}">
      <dsp:nvSpPr>
        <dsp:cNvPr id="0" name=""/>
        <dsp:cNvSpPr/>
      </dsp:nvSpPr>
      <dsp:spPr>
        <a:xfrm>
          <a:off x="0" y="1888810"/>
          <a:ext cx="66865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46A3461-1F07-4275-B8FE-BD06E6CC5201}">
      <dsp:nvSpPr>
        <dsp:cNvPr id="0" name=""/>
        <dsp:cNvSpPr/>
      </dsp:nvSpPr>
      <dsp:spPr>
        <a:xfrm>
          <a:off x="0" y="1888810"/>
          <a:ext cx="6686550" cy="94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/>
            <a:t>• Staff highlighted the need for improved layout to ease congestion during peak times</a:t>
          </a:r>
          <a:endParaRPr lang="en-US" sz="2300" kern="1200"/>
        </a:p>
      </dsp:txBody>
      <dsp:txXfrm>
        <a:off x="0" y="1888810"/>
        <a:ext cx="6686550" cy="944405"/>
      </dsp:txXfrm>
    </dsp:sp>
    <dsp:sp modelId="{89AA96A6-79B7-41A3-B54D-3A4661DCD9B5}">
      <dsp:nvSpPr>
        <dsp:cNvPr id="0" name=""/>
        <dsp:cNvSpPr/>
      </dsp:nvSpPr>
      <dsp:spPr>
        <a:xfrm>
          <a:off x="0" y="2833216"/>
          <a:ext cx="66865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83C818-C24B-40E8-A7B4-CB28B11A0A1B}">
      <dsp:nvSpPr>
        <dsp:cNvPr id="0" name=""/>
        <dsp:cNvSpPr/>
      </dsp:nvSpPr>
      <dsp:spPr>
        <a:xfrm>
          <a:off x="0" y="2833216"/>
          <a:ext cx="6686550" cy="944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/>
            <a:t>• Opportunity: explore layout optimization or relocation of slower-moving categories</a:t>
          </a:r>
          <a:endParaRPr lang="en-US" sz="2300" kern="1200"/>
        </a:p>
      </dsp:txBody>
      <dsp:txXfrm>
        <a:off x="0" y="2833216"/>
        <a:ext cx="6686550" cy="9444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F68A9-2B11-4005-AD91-EDC818639E5D}">
      <dsp:nvSpPr>
        <dsp:cNvPr id="0" name=""/>
        <dsp:cNvSpPr/>
      </dsp:nvSpPr>
      <dsp:spPr>
        <a:xfrm>
          <a:off x="0" y="0"/>
          <a:ext cx="674055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2A25E6-CCDC-4485-AE1F-2BB4A5D8E771}">
      <dsp:nvSpPr>
        <dsp:cNvPr id="0" name=""/>
        <dsp:cNvSpPr/>
      </dsp:nvSpPr>
      <dsp:spPr>
        <a:xfrm>
          <a:off x="0" y="0"/>
          <a:ext cx="6740553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• Recent product launches (e.g., skincare and fragrance) have driven noticeable sales growth</a:t>
          </a:r>
          <a:endParaRPr lang="en-US" sz="2200" kern="1200"/>
        </a:p>
      </dsp:txBody>
      <dsp:txXfrm>
        <a:off x="0" y="0"/>
        <a:ext cx="6740553" cy="913485"/>
      </dsp:txXfrm>
    </dsp:sp>
    <dsp:sp modelId="{4C206D65-FB4C-4153-A4E0-B826D0C06EB0}">
      <dsp:nvSpPr>
        <dsp:cNvPr id="0" name=""/>
        <dsp:cNvSpPr/>
      </dsp:nvSpPr>
      <dsp:spPr>
        <a:xfrm>
          <a:off x="0" y="913485"/>
          <a:ext cx="6740553" cy="0"/>
        </a:xfrm>
        <a:prstGeom prst="line">
          <a:avLst/>
        </a:prstGeom>
        <a:solidFill>
          <a:schemeClr val="accent5">
            <a:hueOff val="716631"/>
            <a:satOff val="-7744"/>
            <a:lumOff val="-2484"/>
            <a:alphaOff val="0"/>
          </a:schemeClr>
        </a:solidFill>
        <a:ln w="15875" cap="rnd" cmpd="sng" algn="ctr">
          <a:solidFill>
            <a:schemeClr val="accent5">
              <a:hueOff val="716631"/>
              <a:satOff val="-7744"/>
              <a:lumOff val="-24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A3EB9-4B12-4EE9-AB88-39A81DC65564}">
      <dsp:nvSpPr>
        <dsp:cNvPr id="0" name=""/>
        <dsp:cNvSpPr/>
      </dsp:nvSpPr>
      <dsp:spPr>
        <a:xfrm>
          <a:off x="0" y="913485"/>
          <a:ext cx="6740553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• Customers are requesting toiletry bags that are compact and handbag-friendly</a:t>
          </a:r>
          <a:endParaRPr lang="en-US" sz="2200" kern="1200"/>
        </a:p>
      </dsp:txBody>
      <dsp:txXfrm>
        <a:off x="0" y="913485"/>
        <a:ext cx="6740553" cy="913485"/>
      </dsp:txXfrm>
    </dsp:sp>
    <dsp:sp modelId="{913A258F-E49B-4E72-8B2B-26A004C145F4}">
      <dsp:nvSpPr>
        <dsp:cNvPr id="0" name=""/>
        <dsp:cNvSpPr/>
      </dsp:nvSpPr>
      <dsp:spPr>
        <a:xfrm>
          <a:off x="0" y="1826970"/>
          <a:ext cx="6740553" cy="0"/>
        </a:xfrm>
        <a:prstGeom prst="line">
          <a:avLst/>
        </a:prstGeom>
        <a:solidFill>
          <a:schemeClr val="accent5">
            <a:hueOff val="1433262"/>
            <a:satOff val="-15489"/>
            <a:lumOff val="-4968"/>
            <a:alphaOff val="0"/>
          </a:schemeClr>
        </a:solidFill>
        <a:ln w="15875" cap="rnd" cmpd="sng" algn="ctr">
          <a:solidFill>
            <a:schemeClr val="accent5">
              <a:hueOff val="1433262"/>
              <a:satOff val="-15489"/>
              <a:lumOff val="-496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D44D8-680D-43EB-9910-EF8E49484985}">
      <dsp:nvSpPr>
        <dsp:cNvPr id="0" name=""/>
        <dsp:cNvSpPr/>
      </dsp:nvSpPr>
      <dsp:spPr>
        <a:xfrm>
          <a:off x="0" y="1826970"/>
          <a:ext cx="6740553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• Strong potential for cross-merchandising beauty accessories with cosmetics</a:t>
          </a:r>
          <a:endParaRPr lang="en-US" sz="2200" kern="1200"/>
        </a:p>
      </dsp:txBody>
      <dsp:txXfrm>
        <a:off x="0" y="1826970"/>
        <a:ext cx="6740553" cy="913485"/>
      </dsp:txXfrm>
    </dsp:sp>
    <dsp:sp modelId="{7079714D-5AD9-4BEF-8099-8DAA87873856}">
      <dsp:nvSpPr>
        <dsp:cNvPr id="0" name=""/>
        <dsp:cNvSpPr/>
      </dsp:nvSpPr>
      <dsp:spPr>
        <a:xfrm>
          <a:off x="0" y="2740455"/>
          <a:ext cx="6740553" cy="0"/>
        </a:xfrm>
        <a:prstGeom prst="line">
          <a:avLst/>
        </a:prstGeom>
        <a:solidFill>
          <a:schemeClr val="accent5">
            <a:hueOff val="2149893"/>
            <a:satOff val="-23233"/>
            <a:lumOff val="-7452"/>
            <a:alphaOff val="0"/>
          </a:schemeClr>
        </a:solidFill>
        <a:ln w="15875" cap="rnd" cmpd="sng" algn="ctr">
          <a:solidFill>
            <a:schemeClr val="accent5">
              <a:hueOff val="2149893"/>
              <a:satOff val="-23233"/>
              <a:lumOff val="-74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F9E74-1D15-463F-910B-8BBC99E368E8}">
      <dsp:nvSpPr>
        <dsp:cNvPr id="0" name=""/>
        <dsp:cNvSpPr/>
      </dsp:nvSpPr>
      <dsp:spPr>
        <a:xfrm>
          <a:off x="0" y="2740455"/>
          <a:ext cx="6740553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• Team is motivated but raised concerns about limited display space for new launches</a:t>
          </a:r>
          <a:endParaRPr lang="en-US" sz="2200" kern="1200"/>
        </a:p>
      </dsp:txBody>
      <dsp:txXfrm>
        <a:off x="0" y="2740455"/>
        <a:ext cx="6740553" cy="9134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E7BC33-12B7-46C6-AC6B-BE2CCB18CC7E}">
      <dsp:nvSpPr>
        <dsp:cNvPr id="0" name=""/>
        <dsp:cNvSpPr/>
      </dsp:nvSpPr>
      <dsp:spPr>
        <a:xfrm>
          <a:off x="0" y="0"/>
          <a:ext cx="674055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0EC6E2-1090-45E3-BA3F-84D6B4165287}">
      <dsp:nvSpPr>
        <dsp:cNvPr id="0" name=""/>
        <dsp:cNvSpPr/>
      </dsp:nvSpPr>
      <dsp:spPr>
        <a:xfrm>
          <a:off x="0" y="0"/>
          <a:ext cx="6740553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ZA" sz="2200" kern="1200"/>
            <a:t>• Operations are stable with no critical concerns raised</a:t>
          </a:r>
          <a:endParaRPr lang="en-US" sz="2200" kern="1200"/>
        </a:p>
      </dsp:txBody>
      <dsp:txXfrm>
        <a:off x="0" y="0"/>
        <a:ext cx="6740553" cy="913485"/>
      </dsp:txXfrm>
    </dsp:sp>
    <dsp:sp modelId="{3FEDE433-AD76-414E-997B-723930EA7B16}">
      <dsp:nvSpPr>
        <dsp:cNvPr id="0" name=""/>
        <dsp:cNvSpPr/>
      </dsp:nvSpPr>
      <dsp:spPr>
        <a:xfrm>
          <a:off x="0" y="913485"/>
          <a:ext cx="674055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F6DB60-69B6-4A1C-967D-4E02489463F0}">
      <dsp:nvSpPr>
        <dsp:cNvPr id="0" name=""/>
        <dsp:cNvSpPr/>
      </dsp:nvSpPr>
      <dsp:spPr>
        <a:xfrm>
          <a:off x="0" y="913485"/>
          <a:ext cx="6740553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ZA" sz="2200" kern="1200"/>
            <a:t>• The team is focused on Christmas setup, ensuring seasonal stock is well presented</a:t>
          </a:r>
          <a:endParaRPr lang="en-US" sz="2200" kern="1200"/>
        </a:p>
      </dsp:txBody>
      <dsp:txXfrm>
        <a:off x="0" y="913485"/>
        <a:ext cx="6740553" cy="913485"/>
      </dsp:txXfrm>
    </dsp:sp>
    <dsp:sp modelId="{D2E5C697-3A77-40F2-8C27-4636CD94C7F3}">
      <dsp:nvSpPr>
        <dsp:cNvPr id="0" name=""/>
        <dsp:cNvSpPr/>
      </dsp:nvSpPr>
      <dsp:spPr>
        <a:xfrm>
          <a:off x="0" y="1826970"/>
          <a:ext cx="674055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DAD0F73-B147-46F1-9453-CF95BF0ABA16}">
      <dsp:nvSpPr>
        <dsp:cNvPr id="0" name=""/>
        <dsp:cNvSpPr/>
      </dsp:nvSpPr>
      <dsp:spPr>
        <a:xfrm>
          <a:off x="0" y="1826970"/>
          <a:ext cx="6740553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ZA" sz="2200" kern="1200"/>
            <a:t>• Visual merchandising in Home aligns with festive campaigns</a:t>
          </a:r>
          <a:endParaRPr lang="en-US" sz="2200" kern="1200"/>
        </a:p>
      </dsp:txBody>
      <dsp:txXfrm>
        <a:off x="0" y="1826970"/>
        <a:ext cx="6740553" cy="913485"/>
      </dsp:txXfrm>
    </dsp:sp>
    <dsp:sp modelId="{417AF079-74DC-4695-B6F1-DB065405261C}">
      <dsp:nvSpPr>
        <dsp:cNvPr id="0" name=""/>
        <dsp:cNvSpPr/>
      </dsp:nvSpPr>
      <dsp:spPr>
        <a:xfrm>
          <a:off x="0" y="2740455"/>
          <a:ext cx="674055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DB2964-27F6-405E-BDDA-52525D848EF6}">
      <dsp:nvSpPr>
        <dsp:cNvPr id="0" name=""/>
        <dsp:cNvSpPr/>
      </dsp:nvSpPr>
      <dsp:spPr>
        <a:xfrm>
          <a:off x="0" y="2740455"/>
          <a:ext cx="6740553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ZA" sz="2200" kern="1200"/>
            <a:t>• Opportunity: leverage festive season for upselling premium homeware bundles</a:t>
          </a:r>
          <a:endParaRPr lang="en-US" sz="2200" kern="1200"/>
        </a:p>
      </dsp:txBody>
      <dsp:txXfrm>
        <a:off x="0" y="2740455"/>
        <a:ext cx="6740553" cy="9134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31164-7DF1-4A7D-9325-8463F99560F6}">
      <dsp:nvSpPr>
        <dsp:cNvPr id="0" name=""/>
        <dsp:cNvSpPr/>
      </dsp:nvSpPr>
      <dsp:spPr>
        <a:xfrm>
          <a:off x="0" y="642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C91B49-3819-41D1-91C9-239AA33DC482}">
      <dsp:nvSpPr>
        <dsp:cNvPr id="0" name=""/>
        <dsp:cNvSpPr/>
      </dsp:nvSpPr>
      <dsp:spPr>
        <a:xfrm>
          <a:off x="454916" y="339010"/>
          <a:ext cx="827120" cy="8271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878E48-2A6B-4416-B81D-8D28C01924F1}">
      <dsp:nvSpPr>
        <dsp:cNvPr id="0" name=""/>
        <dsp:cNvSpPr/>
      </dsp:nvSpPr>
      <dsp:spPr>
        <a:xfrm>
          <a:off x="1736952" y="642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Store capacity shows:</a:t>
          </a:r>
        </a:p>
      </dsp:txBody>
      <dsp:txXfrm>
        <a:off x="1736952" y="642"/>
        <a:ext cx="3387206" cy="1503855"/>
      </dsp:txXfrm>
    </dsp:sp>
    <dsp:sp modelId="{3804249B-A3ED-4B26-8441-B0F36952B53F}">
      <dsp:nvSpPr>
        <dsp:cNvPr id="0" name=""/>
        <dsp:cNvSpPr/>
      </dsp:nvSpPr>
      <dsp:spPr>
        <a:xfrm>
          <a:off x="0" y="1880461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C4A53F-8688-45C5-8600-A80235E84AEB}">
      <dsp:nvSpPr>
        <dsp:cNvPr id="0" name=""/>
        <dsp:cNvSpPr/>
      </dsp:nvSpPr>
      <dsp:spPr>
        <a:xfrm>
          <a:off x="454916" y="2218829"/>
          <a:ext cx="827120" cy="8271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F0D17-6A2A-4AEE-BC80-12CB62B9EADF}">
      <dsp:nvSpPr>
        <dsp:cNvPr id="0" name=""/>
        <dsp:cNvSpPr/>
      </dsp:nvSpPr>
      <dsp:spPr>
        <a:xfrm>
          <a:off x="1736952" y="1880461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1,103 trolleys available</a:t>
          </a:r>
        </a:p>
      </dsp:txBody>
      <dsp:txXfrm>
        <a:off x="1736952" y="1880461"/>
        <a:ext cx="3387206" cy="1503855"/>
      </dsp:txXfrm>
    </dsp:sp>
    <dsp:sp modelId="{F708A124-AF19-4589-A886-A8817028CC5C}">
      <dsp:nvSpPr>
        <dsp:cNvPr id="0" name=""/>
        <dsp:cNvSpPr/>
      </dsp:nvSpPr>
      <dsp:spPr>
        <a:xfrm>
          <a:off x="0" y="3760280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1017B5-94D1-41EB-BD69-376B8FB9AB3C}">
      <dsp:nvSpPr>
        <dsp:cNvPr id="0" name=""/>
        <dsp:cNvSpPr/>
      </dsp:nvSpPr>
      <dsp:spPr>
        <a:xfrm>
          <a:off x="454916" y="4098648"/>
          <a:ext cx="827120" cy="8271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7BE4A4-8380-4BFF-84A2-96DC9ABE9187}">
      <dsp:nvSpPr>
        <dsp:cNvPr id="0" name=""/>
        <dsp:cNvSpPr/>
      </dsp:nvSpPr>
      <dsp:spPr>
        <a:xfrm>
          <a:off x="1736952" y="3760280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273 shopping baskets only</a:t>
          </a:r>
        </a:p>
      </dsp:txBody>
      <dsp:txXfrm>
        <a:off x="1736952" y="3760280"/>
        <a:ext cx="3387206" cy="15038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8C9E8-F9E0-4E6B-8C78-554E6AB1910B}">
      <dsp:nvSpPr>
        <dsp:cNvPr id="0" name=""/>
        <dsp:cNvSpPr/>
      </dsp:nvSpPr>
      <dsp:spPr>
        <a:xfrm>
          <a:off x="0" y="0"/>
          <a:ext cx="674055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EC2AD4-18C3-4694-9E9A-97C049993DC7}">
      <dsp:nvSpPr>
        <dsp:cNvPr id="0" name=""/>
        <dsp:cNvSpPr/>
      </dsp:nvSpPr>
      <dsp:spPr>
        <a:xfrm>
          <a:off x="0" y="0"/>
          <a:ext cx="6740553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/>
            <a:t>Technical faults: tills, scanners, and switchboard failures slow service</a:t>
          </a:r>
          <a:endParaRPr lang="en-US" sz="2400" kern="1200"/>
        </a:p>
      </dsp:txBody>
      <dsp:txXfrm>
        <a:off x="0" y="0"/>
        <a:ext cx="6740553" cy="913485"/>
      </dsp:txXfrm>
    </dsp:sp>
    <dsp:sp modelId="{BF85D48A-B481-470A-8988-231B7D55071A}">
      <dsp:nvSpPr>
        <dsp:cNvPr id="0" name=""/>
        <dsp:cNvSpPr/>
      </dsp:nvSpPr>
      <dsp:spPr>
        <a:xfrm>
          <a:off x="0" y="913485"/>
          <a:ext cx="674055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09753D-CBCD-44EA-93C2-3915B21661C7}">
      <dsp:nvSpPr>
        <dsp:cNvPr id="0" name=""/>
        <dsp:cNvSpPr/>
      </dsp:nvSpPr>
      <dsp:spPr>
        <a:xfrm>
          <a:off x="0" y="913485"/>
          <a:ext cx="6740553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/>
            <a:t>Connectivity problems remain unresolved, disrupting multiple systems</a:t>
          </a:r>
          <a:endParaRPr lang="en-US" sz="2400" kern="1200"/>
        </a:p>
      </dsp:txBody>
      <dsp:txXfrm>
        <a:off x="0" y="913485"/>
        <a:ext cx="6740553" cy="913485"/>
      </dsp:txXfrm>
    </dsp:sp>
    <dsp:sp modelId="{D539C236-7146-4221-A7A0-452A1CBE659E}">
      <dsp:nvSpPr>
        <dsp:cNvPr id="0" name=""/>
        <dsp:cNvSpPr/>
      </dsp:nvSpPr>
      <dsp:spPr>
        <a:xfrm>
          <a:off x="0" y="1826970"/>
          <a:ext cx="674055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024F5B-5737-472F-AC89-4402A94A51FF}">
      <dsp:nvSpPr>
        <dsp:cNvPr id="0" name=""/>
        <dsp:cNvSpPr/>
      </dsp:nvSpPr>
      <dsp:spPr>
        <a:xfrm>
          <a:off x="0" y="1826970"/>
          <a:ext cx="6740553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/>
            <a:t>Clothing space limitations affect customer flow and presentation</a:t>
          </a:r>
          <a:endParaRPr lang="en-US" sz="2400" kern="1200"/>
        </a:p>
      </dsp:txBody>
      <dsp:txXfrm>
        <a:off x="0" y="1826970"/>
        <a:ext cx="6740553" cy="913485"/>
      </dsp:txXfrm>
    </dsp:sp>
    <dsp:sp modelId="{00960338-E5AB-4C6E-A518-FC49161EA00E}">
      <dsp:nvSpPr>
        <dsp:cNvPr id="0" name=""/>
        <dsp:cNvSpPr/>
      </dsp:nvSpPr>
      <dsp:spPr>
        <a:xfrm>
          <a:off x="0" y="2740455"/>
          <a:ext cx="674055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F2CC2D-4F2D-454C-911F-190338D1423B}">
      <dsp:nvSpPr>
        <dsp:cNvPr id="0" name=""/>
        <dsp:cNvSpPr/>
      </dsp:nvSpPr>
      <dsp:spPr>
        <a:xfrm>
          <a:off x="0" y="2740455"/>
          <a:ext cx="6740553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/>
            <a:t>Foods team burdened with manual workarounds due to non-functional systems</a:t>
          </a:r>
          <a:endParaRPr lang="en-US" sz="2400" kern="1200" dirty="0"/>
        </a:p>
      </dsp:txBody>
      <dsp:txXfrm>
        <a:off x="0" y="2740455"/>
        <a:ext cx="6740553" cy="9134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F6C8F-1F16-4741-9188-50206C1C5287}" type="datetimeFigureOut">
              <a:rPr lang="en-ZA" smtClean="0"/>
              <a:t>01/10/2025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54DD0-4434-45D5-8F37-86789EE075F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22576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B54DD0-4434-45D5-8F37-86789EE075F0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3921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1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41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7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94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19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52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75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8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11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83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398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51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6273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12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67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34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04"/>
            <a:ext cx="1952272" cy="6853049"/>
            <a:chOff x="6627813" y="195650"/>
            <a:chExt cx="1952625" cy="5678101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65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613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amp by a canal">
            <a:extLst>
              <a:ext uri="{FF2B5EF4-FFF2-40B4-BE49-F238E27FC236}">
                <a16:creationId xmlns:a16="http://schemas.microsoft.com/office/drawing/2014/main" id="{F4229410-2441-F3B2-56EC-4E588B4E42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67" r="303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799" y="3889218"/>
            <a:ext cx="4108824" cy="10320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sz="3200">
                <a:solidFill>
                  <a:srgbClr val="FEFFFF"/>
                </a:solidFill>
              </a:rPr>
              <a:t>Store Visit: Canal Walk, Century City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799" y="4944531"/>
            <a:ext cx="4090671" cy="524935"/>
          </a:xfrm>
        </p:spPr>
        <p:txBody>
          <a:bodyPr>
            <a:normAutofit/>
          </a:bodyPr>
          <a:lstStyle/>
          <a:p>
            <a:r>
              <a:rPr lang="en-ZA">
                <a:solidFill>
                  <a:srgbClr val="FEFFFF"/>
                </a:solidFill>
              </a:rPr>
              <a:t>Observation &amp; Feedback Report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ZA" sz="240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59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529933" y="589722"/>
            <a:ext cx="5098525" cy="53215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ZA" dirty="0"/>
              <a:t>The Canal Walk store is experiencing operational inefficiencies and service delays caused by:</a:t>
            </a:r>
          </a:p>
          <a:p>
            <a:pPr>
              <a:lnSpc>
                <a:spcPct val="90000"/>
              </a:lnSpc>
            </a:pPr>
            <a:r>
              <a:rPr lang="en-ZA" dirty="0"/>
              <a:t>Persistent technical failures (tills, scanners, switchboard)</a:t>
            </a:r>
          </a:p>
          <a:p>
            <a:pPr>
              <a:lnSpc>
                <a:spcPct val="90000"/>
              </a:lnSpc>
            </a:pPr>
            <a:r>
              <a:rPr lang="en-ZA" dirty="0"/>
              <a:t>Poor connectivity and signal issues</a:t>
            </a:r>
          </a:p>
          <a:p>
            <a:pPr>
              <a:lnSpc>
                <a:spcPct val="90000"/>
              </a:lnSpc>
            </a:pPr>
            <a:r>
              <a:rPr lang="en-ZA" dirty="0"/>
              <a:t> Space constraints in the Clothing department</a:t>
            </a:r>
          </a:p>
          <a:p>
            <a:pPr marL="0" indent="0">
              <a:lnSpc>
                <a:spcPct val="90000"/>
              </a:lnSpc>
              <a:buNone/>
            </a:pPr>
            <a:endParaRPr lang="en-ZA" dirty="0"/>
          </a:p>
          <a:p>
            <a:pPr marL="0" indent="0">
              <a:lnSpc>
                <a:spcPct val="90000"/>
              </a:lnSpc>
              <a:buNone/>
            </a:pPr>
            <a:r>
              <a:rPr lang="en-ZA" dirty="0"/>
              <a:t>While Beauty and Home show positive performance, Foods faces significant system and process disruptions that impact customer experience and staff productivity. Urgent intervention is required to restore smooth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1851F7E-1FA4-429B-8346-D74AB7D48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EE8933F-CE40-492C-A124-59A9BB2EA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495D9449-9704-436C-893A-481236A3C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B4A6A8DB-D531-4634-BAE2-09069F9882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9D8D0671-37AF-42E0-8A10-9B79E3469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B94F3235-BABF-4E27-A250-C785A131B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7246E2D5-CE0B-4068-9A7D-9DC1375DB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43F6E2A1-532E-4BC2-B15E-48A6DBF5A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03A0F057-4B8F-4F26-985A-D73759928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64B1C50E-E8D9-41B4-A199-11051B0E0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B85F5261-8BF6-4F84-B570-F51C3447C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8D3E2FDD-558C-4594-AE52-387CFDA01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EC056D65-A228-41C9-A642-A9F281AD7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CA2D183C-9A86-467C-978F-0E89925E4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3" y="624110"/>
            <a:ext cx="6683766" cy="1280890"/>
          </a:xfrm>
        </p:spPr>
        <p:txBody>
          <a:bodyPr>
            <a:normAutofit/>
          </a:bodyPr>
          <a:lstStyle/>
          <a:p>
            <a:r>
              <a:rPr lang="en-ZA" dirty="0"/>
              <a:t>Fashion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B871EAB-8A69-408E-B593-068341C7D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64AD5766-52CB-4B7E-9D4C-6E85617EF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58CE041A-2BBD-413A-A698-86B86FB3D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D831C5BF-FFFE-4369-817B-6B4D56208D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B6E9F119-5A84-4A1C-AF6C-78517BA01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277F9516-82F9-476C-BD16-B6D41EB5D4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B8C37CAA-46A4-4583-A93F-28DCCAA8D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6C3755F5-DF08-4BD9-B26C-5BDACE12E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C5454663-B464-4C7F-A3FA-6E5801FC1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9EC7EEEB-3445-4E58-827A-AA94BEBBD1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911CC918-1F1F-461E-BDE5-2FC74FAD7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69F3CDE4-9111-4F4F-8A5A-2E35253BC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1E554A99-1D27-4A71-AA70-54822D2AE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786038CD-5A86-4D1C-BDDF-95136A583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51" name="Freeform 11">
            <a:extLst>
              <a:ext uri="{FF2B5EF4-FFF2-40B4-BE49-F238E27FC236}">
                <a16:creationId xmlns:a16="http://schemas.microsoft.com/office/drawing/2014/main" id="{A06BEFDB-A93F-46A4-9393-364D051EE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0E431F-6DAB-C350-C91E-8A56036125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1936354"/>
              </p:ext>
            </p:extLst>
          </p:nvPr>
        </p:nvGraphicFramePr>
        <p:xfrm>
          <a:off x="1941909" y="2133600"/>
          <a:ext cx="668655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roup 179">
            <a:extLst>
              <a:ext uri="{FF2B5EF4-FFF2-40B4-BE49-F238E27FC236}">
                <a16:creationId xmlns:a16="http://schemas.microsoft.com/office/drawing/2014/main" id="{FC7BE47C-BAEE-49EE-BB54-156C979AC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81" name="Freeform 11">
              <a:extLst>
                <a:ext uri="{FF2B5EF4-FFF2-40B4-BE49-F238E27FC236}">
                  <a16:creationId xmlns:a16="http://schemas.microsoft.com/office/drawing/2014/main" id="{2EE9AC32-EDB1-4EFD-BB0E-C26E206C1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2" name="Freeform 12">
              <a:extLst>
                <a:ext uri="{FF2B5EF4-FFF2-40B4-BE49-F238E27FC236}">
                  <a16:creationId xmlns:a16="http://schemas.microsoft.com/office/drawing/2014/main" id="{2FDF0B09-0E9E-45B4-B91E-0E7734ED1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3" name="Freeform 13">
              <a:extLst>
                <a:ext uri="{FF2B5EF4-FFF2-40B4-BE49-F238E27FC236}">
                  <a16:creationId xmlns:a16="http://schemas.microsoft.com/office/drawing/2014/main" id="{1EEB8353-6E5B-417C-B98B-07EE30640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4" name="Freeform 14">
              <a:extLst>
                <a:ext uri="{FF2B5EF4-FFF2-40B4-BE49-F238E27FC236}">
                  <a16:creationId xmlns:a16="http://schemas.microsoft.com/office/drawing/2014/main" id="{F9C5BD3B-D39A-4F8B-9240-7A6C153F0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5" name="Freeform 15">
              <a:extLst>
                <a:ext uri="{FF2B5EF4-FFF2-40B4-BE49-F238E27FC236}">
                  <a16:creationId xmlns:a16="http://schemas.microsoft.com/office/drawing/2014/main" id="{FD941421-268E-4666-A503-9F058B247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6" name="Freeform 16">
              <a:extLst>
                <a:ext uri="{FF2B5EF4-FFF2-40B4-BE49-F238E27FC236}">
                  <a16:creationId xmlns:a16="http://schemas.microsoft.com/office/drawing/2014/main" id="{A00E88A0-7025-47DF-BA70-A8F6F5708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7" name="Freeform 17">
              <a:extLst>
                <a:ext uri="{FF2B5EF4-FFF2-40B4-BE49-F238E27FC236}">
                  <a16:creationId xmlns:a16="http://schemas.microsoft.com/office/drawing/2014/main" id="{DE00BA63-6194-4ECA-84D8-80235F409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8" name="Freeform 18">
              <a:extLst>
                <a:ext uri="{FF2B5EF4-FFF2-40B4-BE49-F238E27FC236}">
                  <a16:creationId xmlns:a16="http://schemas.microsoft.com/office/drawing/2014/main" id="{39AC4B74-4C3D-4EDA-94C2-CDA24D068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9" name="Freeform 19">
              <a:extLst>
                <a:ext uri="{FF2B5EF4-FFF2-40B4-BE49-F238E27FC236}">
                  <a16:creationId xmlns:a16="http://schemas.microsoft.com/office/drawing/2014/main" id="{202B11E6-4CA9-4162-AF59-8C145BC3B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90" name="Freeform 20">
              <a:extLst>
                <a:ext uri="{FF2B5EF4-FFF2-40B4-BE49-F238E27FC236}">
                  <a16:creationId xmlns:a16="http://schemas.microsoft.com/office/drawing/2014/main" id="{8B0AF5D0-1EDB-41E2-8FCD-60CBC2EF5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91" name="Freeform 21">
              <a:extLst>
                <a:ext uri="{FF2B5EF4-FFF2-40B4-BE49-F238E27FC236}">
                  <a16:creationId xmlns:a16="http://schemas.microsoft.com/office/drawing/2014/main" id="{C0D0B969-D0AC-487B-9438-B1FA32847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92" name="Freeform 22">
              <a:extLst>
                <a:ext uri="{FF2B5EF4-FFF2-40B4-BE49-F238E27FC236}">
                  <a16:creationId xmlns:a16="http://schemas.microsoft.com/office/drawing/2014/main" id="{F7583D38-95E7-4E22-8130-05E88EC0E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BB3CB4D2-7362-459B-B043-4A7AA941D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32"/>
            <a:ext cx="1767505" cy="6853285"/>
            <a:chOff x="6627813" y="195454"/>
            <a:chExt cx="1952625" cy="5678297"/>
          </a:xfrm>
        </p:grpSpPr>
        <p:sp>
          <p:nvSpPr>
            <p:cNvPr id="195" name="Freeform 27">
              <a:extLst>
                <a:ext uri="{FF2B5EF4-FFF2-40B4-BE49-F238E27FC236}">
                  <a16:creationId xmlns:a16="http://schemas.microsoft.com/office/drawing/2014/main" id="{340EF90C-4725-4FA2-9C0E-5CC80706D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96" name="Freeform 28">
              <a:extLst>
                <a:ext uri="{FF2B5EF4-FFF2-40B4-BE49-F238E27FC236}">
                  <a16:creationId xmlns:a16="http://schemas.microsoft.com/office/drawing/2014/main" id="{55B4B95F-5B02-4199-A4CF-BF80796B2E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97" name="Freeform 29">
              <a:extLst>
                <a:ext uri="{FF2B5EF4-FFF2-40B4-BE49-F238E27FC236}">
                  <a16:creationId xmlns:a16="http://schemas.microsoft.com/office/drawing/2014/main" id="{B1A85464-EB4E-4F24-B8D1-5AAB1BD177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98" name="Freeform 30">
              <a:extLst>
                <a:ext uri="{FF2B5EF4-FFF2-40B4-BE49-F238E27FC236}">
                  <a16:creationId xmlns:a16="http://schemas.microsoft.com/office/drawing/2014/main" id="{F9CEBF3A-E181-4658-A255-3280C6126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99" name="Freeform 31">
              <a:extLst>
                <a:ext uri="{FF2B5EF4-FFF2-40B4-BE49-F238E27FC236}">
                  <a16:creationId xmlns:a16="http://schemas.microsoft.com/office/drawing/2014/main" id="{8C349E6E-E8E7-4B47-BE5A-46BC3CCF9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00" name="Freeform 32">
              <a:extLst>
                <a:ext uri="{FF2B5EF4-FFF2-40B4-BE49-F238E27FC236}">
                  <a16:creationId xmlns:a16="http://schemas.microsoft.com/office/drawing/2014/main" id="{5DD8C0E0-3E7A-4139-BD20-6E74984104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01" name="Freeform 33">
              <a:extLst>
                <a:ext uri="{FF2B5EF4-FFF2-40B4-BE49-F238E27FC236}">
                  <a16:creationId xmlns:a16="http://schemas.microsoft.com/office/drawing/2014/main" id="{3F5C45D2-1802-44B0-A7A1-E7643C61B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02" name="Freeform 34">
              <a:extLst>
                <a:ext uri="{FF2B5EF4-FFF2-40B4-BE49-F238E27FC236}">
                  <a16:creationId xmlns:a16="http://schemas.microsoft.com/office/drawing/2014/main" id="{E70E5B6E-B6D6-4758-87EB-CE36D7E73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03" name="Freeform 35">
              <a:extLst>
                <a:ext uri="{FF2B5EF4-FFF2-40B4-BE49-F238E27FC236}">
                  <a16:creationId xmlns:a16="http://schemas.microsoft.com/office/drawing/2014/main" id="{42D1616A-61DA-4C6C-9AB1-A69903B14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04" name="Freeform 36">
              <a:extLst>
                <a:ext uri="{FF2B5EF4-FFF2-40B4-BE49-F238E27FC236}">
                  <a16:creationId xmlns:a16="http://schemas.microsoft.com/office/drawing/2014/main" id="{BE714FAF-C28B-40B1-8019-BBDC970C5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05" name="Freeform 37">
              <a:extLst>
                <a:ext uri="{FF2B5EF4-FFF2-40B4-BE49-F238E27FC236}">
                  <a16:creationId xmlns:a16="http://schemas.microsoft.com/office/drawing/2014/main" id="{C7AFB3CA-A3ED-4531-BCA8-7571793D40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06" name="Freeform 38">
              <a:extLst>
                <a:ext uri="{FF2B5EF4-FFF2-40B4-BE49-F238E27FC236}">
                  <a16:creationId xmlns:a16="http://schemas.microsoft.com/office/drawing/2014/main" id="{025E88D5-74FA-49C6-8C3A-2C145643D9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08" name="Rectangle 207">
            <a:extLst>
              <a:ext uri="{FF2B5EF4-FFF2-40B4-BE49-F238E27FC236}">
                <a16:creationId xmlns:a16="http://schemas.microsoft.com/office/drawing/2014/main" id="{55438AA5-07F1-406C-8BA2-E8A868DE0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10" name="Freeform 6">
            <a:extLst>
              <a:ext uri="{FF2B5EF4-FFF2-40B4-BE49-F238E27FC236}">
                <a16:creationId xmlns:a16="http://schemas.microsoft.com/office/drawing/2014/main" id="{C437C0A1-9874-40F4-B52A-107A57A05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 useBgFill="1">
        <p:nvSpPr>
          <p:cNvPr id="212" name="Rectangle 211">
            <a:extLst>
              <a:ext uri="{FF2B5EF4-FFF2-40B4-BE49-F238E27FC236}">
                <a16:creationId xmlns:a16="http://schemas.microsoft.com/office/drawing/2014/main" id="{93E39DA2-04C9-4E79-B81B-6077E9CD2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4073AA2F-CF79-4D11-BD31-2363136F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5507" y="228600"/>
            <a:ext cx="2138628" cy="6638625"/>
            <a:chOff x="2487613" y="285750"/>
            <a:chExt cx="2428875" cy="5654676"/>
          </a:xfrm>
        </p:grpSpPr>
        <p:sp>
          <p:nvSpPr>
            <p:cNvPr id="215" name="Freeform 11">
              <a:extLst>
                <a:ext uri="{FF2B5EF4-FFF2-40B4-BE49-F238E27FC236}">
                  <a16:creationId xmlns:a16="http://schemas.microsoft.com/office/drawing/2014/main" id="{07450BE5-74C5-416C-BD50-E27EE26DA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6" name="Freeform 12">
              <a:extLst>
                <a:ext uri="{FF2B5EF4-FFF2-40B4-BE49-F238E27FC236}">
                  <a16:creationId xmlns:a16="http://schemas.microsoft.com/office/drawing/2014/main" id="{FCAE1F96-00FD-46F0-817B-AE21A4325A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7" name="Freeform 13">
              <a:extLst>
                <a:ext uri="{FF2B5EF4-FFF2-40B4-BE49-F238E27FC236}">
                  <a16:creationId xmlns:a16="http://schemas.microsoft.com/office/drawing/2014/main" id="{D1E301C5-D3C2-48FB-8AD6-F1508D95D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8" name="Freeform 14">
              <a:extLst>
                <a:ext uri="{FF2B5EF4-FFF2-40B4-BE49-F238E27FC236}">
                  <a16:creationId xmlns:a16="http://schemas.microsoft.com/office/drawing/2014/main" id="{945E8018-8CB2-46E8-B8E9-EE04670DBB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9" name="Freeform 15">
              <a:extLst>
                <a:ext uri="{FF2B5EF4-FFF2-40B4-BE49-F238E27FC236}">
                  <a16:creationId xmlns:a16="http://schemas.microsoft.com/office/drawing/2014/main" id="{00441C0F-62FE-4C53-99A8-54E8F161E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0" name="Freeform 16">
              <a:extLst>
                <a:ext uri="{FF2B5EF4-FFF2-40B4-BE49-F238E27FC236}">
                  <a16:creationId xmlns:a16="http://schemas.microsoft.com/office/drawing/2014/main" id="{E561BAB9-9288-41C5-822C-312702576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1" name="Freeform 17">
              <a:extLst>
                <a:ext uri="{FF2B5EF4-FFF2-40B4-BE49-F238E27FC236}">
                  <a16:creationId xmlns:a16="http://schemas.microsoft.com/office/drawing/2014/main" id="{93FBD5DB-6AAF-4B99-8E52-56AA0145EA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2" name="Freeform 18">
              <a:extLst>
                <a:ext uri="{FF2B5EF4-FFF2-40B4-BE49-F238E27FC236}">
                  <a16:creationId xmlns:a16="http://schemas.microsoft.com/office/drawing/2014/main" id="{454942C5-C1AF-40BD-99CB-257FA667B7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3" name="Freeform 19">
              <a:extLst>
                <a:ext uri="{FF2B5EF4-FFF2-40B4-BE49-F238E27FC236}">
                  <a16:creationId xmlns:a16="http://schemas.microsoft.com/office/drawing/2014/main" id="{0EDDDEE1-75EE-40B1-A761-D355F3FC28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4" name="Freeform 20">
              <a:extLst>
                <a:ext uri="{FF2B5EF4-FFF2-40B4-BE49-F238E27FC236}">
                  <a16:creationId xmlns:a16="http://schemas.microsoft.com/office/drawing/2014/main" id="{38F23EB9-B083-42B8-A5A5-A436D317F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5" name="Freeform 21">
              <a:extLst>
                <a:ext uri="{FF2B5EF4-FFF2-40B4-BE49-F238E27FC236}">
                  <a16:creationId xmlns:a16="http://schemas.microsoft.com/office/drawing/2014/main" id="{669CC26D-6F96-49DC-909C-922E59EF6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6" name="Freeform 22">
              <a:extLst>
                <a:ext uri="{FF2B5EF4-FFF2-40B4-BE49-F238E27FC236}">
                  <a16:creationId xmlns:a16="http://schemas.microsoft.com/office/drawing/2014/main" id="{94240DE8-3E18-40BF-8E9C-80A678BF6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32EFCE50-CD7F-4C0D-B2E7-2E3F3DDB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85933" y="-786"/>
            <a:ext cx="1767505" cy="6854040"/>
            <a:chOff x="6627813" y="194833"/>
            <a:chExt cx="1952625" cy="5678918"/>
          </a:xfrm>
        </p:grpSpPr>
        <p:sp>
          <p:nvSpPr>
            <p:cNvPr id="229" name="Freeform 27">
              <a:extLst>
                <a:ext uri="{FF2B5EF4-FFF2-40B4-BE49-F238E27FC236}">
                  <a16:creationId xmlns:a16="http://schemas.microsoft.com/office/drawing/2014/main" id="{93EC702E-549F-4855-A330-3E792DC45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30" name="Freeform 28">
              <a:extLst>
                <a:ext uri="{FF2B5EF4-FFF2-40B4-BE49-F238E27FC236}">
                  <a16:creationId xmlns:a16="http://schemas.microsoft.com/office/drawing/2014/main" id="{9A128FA6-2072-43BC-870A-B9C50D2CC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31" name="Freeform 29">
              <a:extLst>
                <a:ext uri="{FF2B5EF4-FFF2-40B4-BE49-F238E27FC236}">
                  <a16:creationId xmlns:a16="http://schemas.microsoft.com/office/drawing/2014/main" id="{A36F6E39-3381-49B3-9FBE-8AA77EFFA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32" name="Freeform 30">
              <a:extLst>
                <a:ext uri="{FF2B5EF4-FFF2-40B4-BE49-F238E27FC236}">
                  <a16:creationId xmlns:a16="http://schemas.microsoft.com/office/drawing/2014/main" id="{6B85B5CA-2963-4C45-A746-0C431CB263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33" name="Freeform 31">
              <a:extLst>
                <a:ext uri="{FF2B5EF4-FFF2-40B4-BE49-F238E27FC236}">
                  <a16:creationId xmlns:a16="http://schemas.microsoft.com/office/drawing/2014/main" id="{848355F5-FBF9-4F5B-A424-D4934FFF7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34" name="Freeform 32">
              <a:extLst>
                <a:ext uri="{FF2B5EF4-FFF2-40B4-BE49-F238E27FC236}">
                  <a16:creationId xmlns:a16="http://schemas.microsoft.com/office/drawing/2014/main" id="{A92FE770-2B87-4054-AB43-D7FD987D0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35" name="Freeform 33">
              <a:extLst>
                <a:ext uri="{FF2B5EF4-FFF2-40B4-BE49-F238E27FC236}">
                  <a16:creationId xmlns:a16="http://schemas.microsoft.com/office/drawing/2014/main" id="{16B4B37C-5D53-4009-B1A3-DA958CF8A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36" name="Freeform 34">
              <a:extLst>
                <a:ext uri="{FF2B5EF4-FFF2-40B4-BE49-F238E27FC236}">
                  <a16:creationId xmlns:a16="http://schemas.microsoft.com/office/drawing/2014/main" id="{B5DD4D50-EA73-4857-8C81-BD97761EC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37" name="Freeform 35">
              <a:extLst>
                <a:ext uri="{FF2B5EF4-FFF2-40B4-BE49-F238E27FC236}">
                  <a16:creationId xmlns:a16="http://schemas.microsoft.com/office/drawing/2014/main" id="{E18FC9BF-9A08-4E65-894B-A245ED20D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38" name="Freeform 36">
              <a:extLst>
                <a:ext uri="{FF2B5EF4-FFF2-40B4-BE49-F238E27FC236}">
                  <a16:creationId xmlns:a16="http://schemas.microsoft.com/office/drawing/2014/main" id="{4647C293-F39B-46E0-99F7-3A48474F4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39" name="Freeform 37">
              <a:extLst>
                <a:ext uri="{FF2B5EF4-FFF2-40B4-BE49-F238E27FC236}">
                  <a16:creationId xmlns:a16="http://schemas.microsoft.com/office/drawing/2014/main" id="{F6D56970-D3A0-4F85-B739-2EAC2A2BA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40" name="Freeform 38">
              <a:extLst>
                <a:ext uri="{FF2B5EF4-FFF2-40B4-BE49-F238E27FC236}">
                  <a16:creationId xmlns:a16="http://schemas.microsoft.com/office/drawing/2014/main" id="{72A390BC-C970-4189-956C-3391C30E9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8872DB4-0093-4E5D-31E0-00AEB5718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451" y="935646"/>
            <a:ext cx="2386198" cy="38417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/>
              <a:t>Store Experience (Fashion)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96FD82CB-B35F-4846-88F6-BED535F0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5516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32FA07CE-F6EB-F003-E4E4-1E6D58192F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"/>
          <a:stretch>
            <a:fillRect/>
          </a:stretch>
        </p:blipFill>
        <p:spPr>
          <a:xfrm>
            <a:off x="20" y="10"/>
            <a:ext cx="4575282" cy="3433196"/>
          </a:xfrm>
          <a:prstGeom prst="rect">
            <a:avLst/>
          </a:prstGeom>
        </p:spPr>
      </p:pic>
      <p:sp>
        <p:nvSpPr>
          <p:cNvPr id="244" name="Freeform 33">
            <a:extLst>
              <a:ext uri="{FF2B5EF4-FFF2-40B4-BE49-F238E27FC236}">
                <a16:creationId xmlns:a16="http://schemas.microsoft.com/office/drawing/2014/main" id="{6E16A2E3-697F-40AD-8F3F-AC59381D8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565516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FEBEE76-DEC6-DAE8-1BD3-BB72558D3E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2" b="505"/>
          <a:stretch>
            <a:fillRect/>
          </a:stretch>
        </p:blipFill>
        <p:spPr>
          <a:xfrm>
            <a:off x="20" y="3443912"/>
            <a:ext cx="4575282" cy="3414088"/>
          </a:xfrm>
          <a:prstGeom prst="rect">
            <a:avLst/>
          </a:prstGeom>
        </p:spPr>
      </p:pic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FA2384C4-0B55-4079-88AE-6DE1A770A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426234"/>
            <a:ext cx="4669474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672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8C9F670-D457-4F9E-BDA1-B6468C778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r>
              <a:rPr lang="en-ZA"/>
              <a:t>Beauty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0E2333-C7BB-42CB-A674-0BE0C8ED7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6CADF7DA-72EF-4990-9F27-D443BAF7D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789A6D-2CA6-871A-3D84-4FF0B9799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9643701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FC7BE47C-BAEE-49EE-BB54-156C979AC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2EE9AC32-EDB1-4EFD-BB0E-C26E206C1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2FDF0B09-0E9E-45B4-B91E-0E7734ED1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1EEB8353-6E5B-417C-B98B-07EE30640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F9C5BD3B-D39A-4F8B-9240-7A6C153F0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FD941421-268E-4666-A503-9F058B247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A00E88A0-7025-47DF-BA70-A8F6F5708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DE00BA63-6194-4ECA-84D8-80235F409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39AC4B74-4C3D-4EDA-94C2-CDA24D068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202B11E6-4CA9-4162-AF59-8C145BC3B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8B0AF5D0-1EDB-41E2-8FCD-60CBC2EF5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4" name="Freeform 21">
              <a:extLst>
                <a:ext uri="{FF2B5EF4-FFF2-40B4-BE49-F238E27FC236}">
                  <a16:creationId xmlns:a16="http://schemas.microsoft.com/office/drawing/2014/main" id="{C0D0B969-D0AC-487B-9438-B1FA32847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F7583D38-95E7-4E22-8130-05E88EC0E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B3CB4D2-7362-459B-B043-4A7AA941D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32"/>
            <a:ext cx="1767505" cy="6853285"/>
            <a:chOff x="6627813" y="195454"/>
            <a:chExt cx="1952625" cy="5678297"/>
          </a:xfrm>
        </p:grpSpPr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340EF90C-4725-4FA2-9C0E-5CC80706D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55B4B95F-5B02-4199-A4CF-BF80796B2E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B1A85464-EB4E-4F24-B8D1-5AAB1BD177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F9CEBF3A-E181-4658-A255-3280C6126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8C349E6E-E8E7-4B47-BE5A-46BC3CCF9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5DD8C0E0-3E7A-4139-BD20-6E74984104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4" name="Freeform 33">
              <a:extLst>
                <a:ext uri="{FF2B5EF4-FFF2-40B4-BE49-F238E27FC236}">
                  <a16:creationId xmlns:a16="http://schemas.microsoft.com/office/drawing/2014/main" id="{3F5C45D2-1802-44B0-A7A1-E7643C61B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id="{E70E5B6E-B6D6-4758-87EB-CE36D7E73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id="{42D1616A-61DA-4C6C-9AB1-A69903B14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BE714FAF-C28B-40B1-8019-BBDC970C5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C7AFB3CA-A3ED-4531-BCA8-7571793D40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025E88D5-74FA-49C6-8C3A-2C145643D9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55438AA5-07F1-406C-8BA2-E8A868DE0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53" name="Freeform 6">
            <a:extLst>
              <a:ext uri="{FF2B5EF4-FFF2-40B4-BE49-F238E27FC236}">
                <a16:creationId xmlns:a16="http://schemas.microsoft.com/office/drawing/2014/main" id="{C437C0A1-9874-40F4-B52A-107A57A05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9FD9FC-3A0B-85E4-C2BF-10A5EF9D3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909" y="4775200"/>
            <a:ext cx="6686550" cy="823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/>
              <a:t>Store Experience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609FB5-81F3-5B55-B39F-D9844C83E8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95" r="15655" b="1"/>
          <a:stretch>
            <a:fillRect/>
          </a:stretch>
        </p:blipFill>
        <p:spPr>
          <a:xfrm>
            <a:off x="1941909" y="634963"/>
            <a:ext cx="3281877" cy="385497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5BDA2C-AEC8-D121-4B07-6FABCB32B4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42" r="4" b="2464"/>
          <a:stretch>
            <a:fillRect/>
          </a:stretch>
        </p:blipFill>
        <p:spPr>
          <a:xfrm>
            <a:off x="5346581" y="631823"/>
            <a:ext cx="3281877" cy="385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00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r>
              <a:rPr lang="en-ZA"/>
              <a:t>Home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2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F0E4BB-1675-800D-D0DD-F604594524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8015789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roup 204">
            <a:extLst>
              <a:ext uri="{FF2B5EF4-FFF2-40B4-BE49-F238E27FC236}">
                <a16:creationId xmlns:a16="http://schemas.microsoft.com/office/drawing/2014/main" id="{FC7BE47C-BAEE-49EE-BB54-156C979AC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206" name="Freeform 11">
              <a:extLst>
                <a:ext uri="{FF2B5EF4-FFF2-40B4-BE49-F238E27FC236}">
                  <a16:creationId xmlns:a16="http://schemas.microsoft.com/office/drawing/2014/main" id="{2EE9AC32-EDB1-4EFD-BB0E-C26E206C1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07" name="Freeform 12">
              <a:extLst>
                <a:ext uri="{FF2B5EF4-FFF2-40B4-BE49-F238E27FC236}">
                  <a16:creationId xmlns:a16="http://schemas.microsoft.com/office/drawing/2014/main" id="{2FDF0B09-0E9E-45B4-B91E-0E7734ED1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08" name="Freeform 13">
              <a:extLst>
                <a:ext uri="{FF2B5EF4-FFF2-40B4-BE49-F238E27FC236}">
                  <a16:creationId xmlns:a16="http://schemas.microsoft.com/office/drawing/2014/main" id="{1EEB8353-6E5B-417C-B98B-07EE30640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09" name="Freeform 14">
              <a:extLst>
                <a:ext uri="{FF2B5EF4-FFF2-40B4-BE49-F238E27FC236}">
                  <a16:creationId xmlns:a16="http://schemas.microsoft.com/office/drawing/2014/main" id="{F9C5BD3B-D39A-4F8B-9240-7A6C153F0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0" name="Freeform 15">
              <a:extLst>
                <a:ext uri="{FF2B5EF4-FFF2-40B4-BE49-F238E27FC236}">
                  <a16:creationId xmlns:a16="http://schemas.microsoft.com/office/drawing/2014/main" id="{FD941421-268E-4666-A503-9F058B247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1" name="Freeform 16">
              <a:extLst>
                <a:ext uri="{FF2B5EF4-FFF2-40B4-BE49-F238E27FC236}">
                  <a16:creationId xmlns:a16="http://schemas.microsoft.com/office/drawing/2014/main" id="{A00E88A0-7025-47DF-BA70-A8F6F5708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2" name="Freeform 17">
              <a:extLst>
                <a:ext uri="{FF2B5EF4-FFF2-40B4-BE49-F238E27FC236}">
                  <a16:creationId xmlns:a16="http://schemas.microsoft.com/office/drawing/2014/main" id="{DE00BA63-6194-4ECA-84D8-80235F409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3" name="Freeform 18">
              <a:extLst>
                <a:ext uri="{FF2B5EF4-FFF2-40B4-BE49-F238E27FC236}">
                  <a16:creationId xmlns:a16="http://schemas.microsoft.com/office/drawing/2014/main" id="{39AC4B74-4C3D-4EDA-94C2-CDA24D068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4" name="Freeform 19">
              <a:extLst>
                <a:ext uri="{FF2B5EF4-FFF2-40B4-BE49-F238E27FC236}">
                  <a16:creationId xmlns:a16="http://schemas.microsoft.com/office/drawing/2014/main" id="{202B11E6-4CA9-4162-AF59-8C145BC3B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5" name="Freeform 20">
              <a:extLst>
                <a:ext uri="{FF2B5EF4-FFF2-40B4-BE49-F238E27FC236}">
                  <a16:creationId xmlns:a16="http://schemas.microsoft.com/office/drawing/2014/main" id="{8B0AF5D0-1EDB-41E2-8FCD-60CBC2EF5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6" name="Freeform 21">
              <a:extLst>
                <a:ext uri="{FF2B5EF4-FFF2-40B4-BE49-F238E27FC236}">
                  <a16:creationId xmlns:a16="http://schemas.microsoft.com/office/drawing/2014/main" id="{C0D0B969-D0AC-487B-9438-B1FA32847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7" name="Freeform 22">
              <a:extLst>
                <a:ext uri="{FF2B5EF4-FFF2-40B4-BE49-F238E27FC236}">
                  <a16:creationId xmlns:a16="http://schemas.microsoft.com/office/drawing/2014/main" id="{F7583D38-95E7-4E22-8130-05E88EC0E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BB3CB4D2-7362-459B-B043-4A7AA941D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32"/>
            <a:ext cx="1767505" cy="6853285"/>
            <a:chOff x="6627813" y="195454"/>
            <a:chExt cx="1952625" cy="5678297"/>
          </a:xfrm>
        </p:grpSpPr>
        <p:sp>
          <p:nvSpPr>
            <p:cNvPr id="219" name="Freeform 27">
              <a:extLst>
                <a:ext uri="{FF2B5EF4-FFF2-40B4-BE49-F238E27FC236}">
                  <a16:creationId xmlns:a16="http://schemas.microsoft.com/office/drawing/2014/main" id="{340EF90C-4725-4FA2-9C0E-5CC80706D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0" name="Freeform 28">
              <a:extLst>
                <a:ext uri="{FF2B5EF4-FFF2-40B4-BE49-F238E27FC236}">
                  <a16:creationId xmlns:a16="http://schemas.microsoft.com/office/drawing/2014/main" id="{55B4B95F-5B02-4199-A4CF-BF80796B2E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1" name="Freeform 29">
              <a:extLst>
                <a:ext uri="{FF2B5EF4-FFF2-40B4-BE49-F238E27FC236}">
                  <a16:creationId xmlns:a16="http://schemas.microsoft.com/office/drawing/2014/main" id="{B1A85464-EB4E-4F24-B8D1-5AAB1BD177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2" name="Freeform 30">
              <a:extLst>
                <a:ext uri="{FF2B5EF4-FFF2-40B4-BE49-F238E27FC236}">
                  <a16:creationId xmlns:a16="http://schemas.microsoft.com/office/drawing/2014/main" id="{F9CEBF3A-E181-4658-A255-3280C6126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3" name="Freeform 31">
              <a:extLst>
                <a:ext uri="{FF2B5EF4-FFF2-40B4-BE49-F238E27FC236}">
                  <a16:creationId xmlns:a16="http://schemas.microsoft.com/office/drawing/2014/main" id="{8C349E6E-E8E7-4B47-BE5A-46BC3CCF9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4" name="Freeform 32">
              <a:extLst>
                <a:ext uri="{FF2B5EF4-FFF2-40B4-BE49-F238E27FC236}">
                  <a16:creationId xmlns:a16="http://schemas.microsoft.com/office/drawing/2014/main" id="{5DD8C0E0-3E7A-4139-BD20-6E74984104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5" name="Freeform 33">
              <a:extLst>
                <a:ext uri="{FF2B5EF4-FFF2-40B4-BE49-F238E27FC236}">
                  <a16:creationId xmlns:a16="http://schemas.microsoft.com/office/drawing/2014/main" id="{3F5C45D2-1802-44B0-A7A1-E7643C61B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6" name="Freeform 34">
              <a:extLst>
                <a:ext uri="{FF2B5EF4-FFF2-40B4-BE49-F238E27FC236}">
                  <a16:creationId xmlns:a16="http://schemas.microsoft.com/office/drawing/2014/main" id="{E70E5B6E-B6D6-4758-87EB-CE36D7E73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7" name="Freeform 35">
              <a:extLst>
                <a:ext uri="{FF2B5EF4-FFF2-40B4-BE49-F238E27FC236}">
                  <a16:creationId xmlns:a16="http://schemas.microsoft.com/office/drawing/2014/main" id="{42D1616A-61DA-4C6C-9AB1-A69903B14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8" name="Freeform 36">
              <a:extLst>
                <a:ext uri="{FF2B5EF4-FFF2-40B4-BE49-F238E27FC236}">
                  <a16:creationId xmlns:a16="http://schemas.microsoft.com/office/drawing/2014/main" id="{BE714FAF-C28B-40B1-8019-BBDC970C5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9" name="Freeform 37">
              <a:extLst>
                <a:ext uri="{FF2B5EF4-FFF2-40B4-BE49-F238E27FC236}">
                  <a16:creationId xmlns:a16="http://schemas.microsoft.com/office/drawing/2014/main" id="{C7AFB3CA-A3ED-4531-BCA8-7571793D40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30" name="Freeform 38">
              <a:extLst>
                <a:ext uri="{FF2B5EF4-FFF2-40B4-BE49-F238E27FC236}">
                  <a16:creationId xmlns:a16="http://schemas.microsoft.com/office/drawing/2014/main" id="{025E88D5-74FA-49C6-8C3A-2C145643D9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31" name="Rectangle 230">
            <a:extLst>
              <a:ext uri="{FF2B5EF4-FFF2-40B4-BE49-F238E27FC236}">
                <a16:creationId xmlns:a16="http://schemas.microsoft.com/office/drawing/2014/main" id="{55438AA5-07F1-406C-8BA2-E8A868DE0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32" name="Freeform 6">
            <a:extLst>
              <a:ext uri="{FF2B5EF4-FFF2-40B4-BE49-F238E27FC236}">
                <a16:creationId xmlns:a16="http://schemas.microsoft.com/office/drawing/2014/main" id="{C437C0A1-9874-40F4-B52A-107A57A05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CDF8D-685D-6FAF-67F8-E674C9545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909" y="4775200"/>
            <a:ext cx="6686550" cy="823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/>
              <a:t>Store Experience </a:t>
            </a:r>
          </a:p>
        </p:txBody>
      </p:sp>
      <p:pic>
        <p:nvPicPr>
          <p:cNvPr id="7" name="Picture 6" descr="A store with a sign above it&#10;&#10;AI-generated content may be incorrect.">
            <a:extLst>
              <a:ext uri="{FF2B5EF4-FFF2-40B4-BE49-F238E27FC236}">
                <a16:creationId xmlns:a16="http://schemas.microsoft.com/office/drawing/2014/main" id="{E13E465E-AB14-CCB4-9A8B-98770F7513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96" r="25654" b="1"/>
          <a:stretch>
            <a:fillRect/>
          </a:stretch>
        </p:blipFill>
        <p:spPr>
          <a:xfrm>
            <a:off x="1941909" y="634963"/>
            <a:ext cx="3281877" cy="385497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649B45-4932-298E-67AF-2E78219D4E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99" r="4" b="408"/>
          <a:stretch>
            <a:fillRect/>
          </a:stretch>
        </p:blipFill>
        <p:spPr>
          <a:xfrm>
            <a:off x="5346581" y="631823"/>
            <a:ext cx="3281877" cy="385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48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16" y="1059872"/>
            <a:ext cx="2259162" cy="4851349"/>
          </a:xfrm>
        </p:spPr>
        <p:txBody>
          <a:bodyPr>
            <a:normAutofit/>
          </a:bodyPr>
          <a:lstStyle/>
          <a:p>
            <a:r>
              <a:rPr lang="en-ZA" sz="2500" dirty="0"/>
              <a:t>Foods (Operational Issues)</a:t>
            </a:r>
          </a:p>
        </p:txBody>
      </p:sp>
      <p:sp>
        <p:nvSpPr>
          <p:cNvPr id="96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1149203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2612" y="113574"/>
            <a:ext cx="5507714" cy="6510509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Multiple system failures impacting efficiency and customer service: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SIMS scanners not working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ECS prices not updated on 27th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Persistent signal/connectivity issues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 Till #13 (Incident #4109165) unresolved despite repeated reports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Scanners unable to log out of profiles → shared logins compromise accountability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PC '</a:t>
            </a:r>
            <a:r>
              <a:rPr lang="en-ZA" sz="1600" dirty="0" err="1">
                <a:latin typeface="Arial" panose="020B0604020202020204" pitchFamily="34" charset="0"/>
                <a:cs typeface="Arial" panose="020B0604020202020204" pitchFamily="34" charset="0"/>
              </a:rPr>
              <a:t>WToday</a:t>
            </a: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' login issues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 Dash scanners not functional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 Till #9: role change requires call logging, delaying transactions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 Scanners cannot print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Suspended transactions remain hanging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Waste till out of service → staff redirect to Kids tills, frustrating customers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Switchboard crashes → customers cannot be heard by staff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These issues directly affect sales, staff efficiency, and customer satisfaction.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A4B381F-0613-4635-9FF1-7F138E908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38" name="Freeform 11">
              <a:extLst>
                <a:ext uri="{FF2B5EF4-FFF2-40B4-BE49-F238E27FC236}">
                  <a16:creationId xmlns:a16="http://schemas.microsoft.com/office/drawing/2014/main" id="{E2CDD211-CC70-4A05-B57A-0C7AF10EC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39" name="Freeform 12">
              <a:extLst>
                <a:ext uri="{FF2B5EF4-FFF2-40B4-BE49-F238E27FC236}">
                  <a16:creationId xmlns:a16="http://schemas.microsoft.com/office/drawing/2014/main" id="{FB3D49A7-66BC-4C31-9FCE-024EBC631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0" name="Freeform 13">
              <a:extLst>
                <a:ext uri="{FF2B5EF4-FFF2-40B4-BE49-F238E27FC236}">
                  <a16:creationId xmlns:a16="http://schemas.microsoft.com/office/drawing/2014/main" id="{891BBF88-3ED5-4945-88CA-7C244AC3D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1" name="Freeform 14">
              <a:extLst>
                <a:ext uri="{FF2B5EF4-FFF2-40B4-BE49-F238E27FC236}">
                  <a16:creationId xmlns:a16="http://schemas.microsoft.com/office/drawing/2014/main" id="{4DE5D08A-C8FA-4A93-91EB-6E1638AC6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2" name="Freeform 15">
              <a:extLst>
                <a:ext uri="{FF2B5EF4-FFF2-40B4-BE49-F238E27FC236}">
                  <a16:creationId xmlns:a16="http://schemas.microsoft.com/office/drawing/2014/main" id="{D0E74E81-2BD8-4D93-9C58-07B71A4F0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02EA5090-484E-4DA2-B792-E432502D2C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34" name="Freeform 17">
              <a:extLst>
                <a:ext uri="{FF2B5EF4-FFF2-40B4-BE49-F238E27FC236}">
                  <a16:creationId xmlns:a16="http://schemas.microsoft.com/office/drawing/2014/main" id="{D7FAC83F-F4D3-4922-8C9E-09D170A5B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5" name="Freeform 18">
              <a:extLst>
                <a:ext uri="{FF2B5EF4-FFF2-40B4-BE49-F238E27FC236}">
                  <a16:creationId xmlns:a16="http://schemas.microsoft.com/office/drawing/2014/main" id="{EF580442-0B7E-4CD2-897B-76A241329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6" name="Freeform 19">
              <a:extLst>
                <a:ext uri="{FF2B5EF4-FFF2-40B4-BE49-F238E27FC236}">
                  <a16:creationId xmlns:a16="http://schemas.microsoft.com/office/drawing/2014/main" id="{A8E7A643-FA1F-4BE4-89B2-129A03C1B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7" name="Freeform 20">
              <a:extLst>
                <a:ext uri="{FF2B5EF4-FFF2-40B4-BE49-F238E27FC236}">
                  <a16:creationId xmlns:a16="http://schemas.microsoft.com/office/drawing/2014/main" id="{D706DC49-A8B1-49C1-BA11-B9458C1BF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8" name="Freeform 21">
              <a:extLst>
                <a:ext uri="{FF2B5EF4-FFF2-40B4-BE49-F238E27FC236}">
                  <a16:creationId xmlns:a16="http://schemas.microsoft.com/office/drawing/2014/main" id="{47E69BF8-0814-4C8B-9536-83C76D54F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9" name="Freeform 22">
              <a:extLst>
                <a:ext uri="{FF2B5EF4-FFF2-40B4-BE49-F238E27FC236}">
                  <a16:creationId xmlns:a16="http://schemas.microsoft.com/office/drawing/2014/main" id="{93C248F8-17F0-4179-87EB-62C570BEC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DF9A384-C07B-4A0E-8EEB-2ED4C022E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32"/>
            <a:ext cx="1767505" cy="6853285"/>
            <a:chOff x="6627813" y="195454"/>
            <a:chExt cx="1952625" cy="5678297"/>
          </a:xfrm>
        </p:grpSpPr>
        <p:sp>
          <p:nvSpPr>
            <p:cNvPr id="152" name="Freeform 27">
              <a:extLst>
                <a:ext uri="{FF2B5EF4-FFF2-40B4-BE49-F238E27FC236}">
                  <a16:creationId xmlns:a16="http://schemas.microsoft.com/office/drawing/2014/main" id="{8D1C582A-8FE1-4558-8EC8-232453FCFF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53" name="Freeform 28">
              <a:extLst>
                <a:ext uri="{FF2B5EF4-FFF2-40B4-BE49-F238E27FC236}">
                  <a16:creationId xmlns:a16="http://schemas.microsoft.com/office/drawing/2014/main" id="{10ECFB74-0B8D-4753-BE03-35897F08E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54" name="Freeform 29">
              <a:extLst>
                <a:ext uri="{FF2B5EF4-FFF2-40B4-BE49-F238E27FC236}">
                  <a16:creationId xmlns:a16="http://schemas.microsoft.com/office/drawing/2014/main" id="{0F48B5A0-967D-4E4C-A04B-AFBD26402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55" name="Freeform 30">
              <a:extLst>
                <a:ext uri="{FF2B5EF4-FFF2-40B4-BE49-F238E27FC236}">
                  <a16:creationId xmlns:a16="http://schemas.microsoft.com/office/drawing/2014/main" id="{8F554B57-78BD-4A75-AF1F-AAA92F530D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56" name="Freeform 31">
              <a:extLst>
                <a:ext uri="{FF2B5EF4-FFF2-40B4-BE49-F238E27FC236}">
                  <a16:creationId xmlns:a16="http://schemas.microsoft.com/office/drawing/2014/main" id="{08E5B0D4-8380-4829-84AA-90CDAEEF7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35" name="Freeform 32">
              <a:extLst>
                <a:ext uri="{FF2B5EF4-FFF2-40B4-BE49-F238E27FC236}">
                  <a16:creationId xmlns:a16="http://schemas.microsoft.com/office/drawing/2014/main" id="{DA671424-A7DE-414A-8249-A31B277F8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36" name="Freeform 33">
              <a:extLst>
                <a:ext uri="{FF2B5EF4-FFF2-40B4-BE49-F238E27FC236}">
                  <a16:creationId xmlns:a16="http://schemas.microsoft.com/office/drawing/2014/main" id="{61F019F6-A015-48C9-98B3-C8F96F70A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59" name="Freeform 34">
              <a:extLst>
                <a:ext uri="{FF2B5EF4-FFF2-40B4-BE49-F238E27FC236}">
                  <a16:creationId xmlns:a16="http://schemas.microsoft.com/office/drawing/2014/main" id="{27089672-068C-4739-9E42-D28780319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60" name="Freeform 35">
              <a:extLst>
                <a:ext uri="{FF2B5EF4-FFF2-40B4-BE49-F238E27FC236}">
                  <a16:creationId xmlns:a16="http://schemas.microsoft.com/office/drawing/2014/main" id="{E15B15B6-DFF2-4D21-A92E-B03D249F5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61" name="Freeform 36">
              <a:extLst>
                <a:ext uri="{FF2B5EF4-FFF2-40B4-BE49-F238E27FC236}">
                  <a16:creationId xmlns:a16="http://schemas.microsoft.com/office/drawing/2014/main" id="{1EFBF119-E03B-40FC-9342-17EEA72B0C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62" name="Freeform 37">
              <a:extLst>
                <a:ext uri="{FF2B5EF4-FFF2-40B4-BE49-F238E27FC236}">
                  <a16:creationId xmlns:a16="http://schemas.microsoft.com/office/drawing/2014/main" id="{78BC0A82-D228-47FF-91A2-569538697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63" name="Freeform 38">
              <a:extLst>
                <a:ext uri="{FF2B5EF4-FFF2-40B4-BE49-F238E27FC236}">
                  <a16:creationId xmlns:a16="http://schemas.microsoft.com/office/drawing/2014/main" id="{A8B1606E-1842-4EA4-BD61-722A2D5FEB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A34AFBF-C40B-42F0-A3AB-54B68B13A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67" name="Freeform 6">
            <a:extLst>
              <a:ext uri="{FF2B5EF4-FFF2-40B4-BE49-F238E27FC236}">
                <a16:creationId xmlns:a16="http://schemas.microsoft.com/office/drawing/2014/main" id="{37C24879-4D3C-4DA2-8F74-16C0E93F2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B41C5A-A75F-A98E-6C96-EFA0340E7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909" y="4775200"/>
            <a:ext cx="6686550" cy="823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/>
              <a:t>Store Experience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87D750-37DD-7037-D143-2599A5E4F9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5" r="14598" b="-4"/>
          <a:stretch>
            <a:fillRect/>
          </a:stretch>
        </p:blipFill>
        <p:spPr>
          <a:xfrm>
            <a:off x="1941909" y="634963"/>
            <a:ext cx="2143953" cy="3854971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367369-390D-B8A6-0476-E3702F18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91" r="15489" b="-4"/>
          <a:stretch>
            <a:fillRect/>
          </a:stretch>
        </p:blipFill>
        <p:spPr>
          <a:xfrm>
            <a:off x="4199817" y="631823"/>
            <a:ext cx="2157343" cy="38549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D41140-464D-C3D6-6011-CC855ABB5F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304" r="11075" b="-4"/>
          <a:stretch>
            <a:fillRect/>
          </a:stretch>
        </p:blipFill>
        <p:spPr>
          <a:xfrm>
            <a:off x="6471114" y="631823"/>
            <a:ext cx="2157343" cy="385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7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5E4CBEC-18A2-4509-A45D-D5E653582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ZA" sz="2800" dirty="0">
                <a:solidFill>
                  <a:schemeClr val="bg1"/>
                </a:solidFill>
              </a:rPr>
              <a:t>Key Stats</a:t>
            </a:r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0A5EA4A7-4381-4FC6-AA9A-C9EA77B84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6295D53-0474-4725-85BE-1F15FCC2D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2C5CBA-60FA-6827-38D3-7F7760FB23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3696548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r>
              <a:rPr lang="en-ZA" dirty="0"/>
              <a:t>Key Challenges (Summary)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F8AA1E4-49B7-C26B-E0F0-E391E0B68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2192481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514" y="942108"/>
            <a:ext cx="2442412" cy="4969113"/>
          </a:xfrm>
        </p:spPr>
        <p:txBody>
          <a:bodyPr anchor="ctr">
            <a:normAutofit/>
          </a:bodyPr>
          <a:lstStyle/>
          <a:p>
            <a:r>
              <a:rPr lang="en-ZA" sz="1700">
                <a:solidFill>
                  <a:schemeClr val="tx2">
                    <a:lumMod val="75000"/>
                  </a:schemeClr>
                </a:solidFill>
              </a:rPr>
              <a:t>Recommendations / Next Steps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136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37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38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39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0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1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2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3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4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5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6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7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55" name="Content Placeholder 2"/>
          <p:cNvSpPr>
            <a:spLocks noGrp="1"/>
          </p:cNvSpPr>
          <p:nvPr>
            <p:ph idx="1"/>
          </p:nvPr>
        </p:nvSpPr>
        <p:spPr>
          <a:xfrm>
            <a:off x="3786796" y="942108"/>
            <a:ext cx="4841662" cy="496911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ZA" sz="1500" dirty="0">
                <a:solidFill>
                  <a:schemeClr val="tx2">
                    <a:lumMod val="75000"/>
                  </a:schemeClr>
                </a:solidFill>
              </a:rPr>
              <a:t>Prioritize urgent resolution of till incidents (#4109165, Till #9, Waste till)</a:t>
            </a:r>
          </a:p>
          <a:p>
            <a:pPr>
              <a:lnSpc>
                <a:spcPct val="90000"/>
              </a:lnSpc>
            </a:pPr>
            <a:r>
              <a:rPr lang="en-ZA" sz="1500" dirty="0">
                <a:solidFill>
                  <a:schemeClr val="tx2">
                    <a:lumMod val="75000"/>
                  </a:schemeClr>
                </a:solidFill>
              </a:rPr>
              <a:t>Escalate scanner login/printing issues with IT for permanent fixes</a:t>
            </a:r>
          </a:p>
          <a:p>
            <a:pPr>
              <a:lnSpc>
                <a:spcPct val="90000"/>
              </a:lnSpc>
            </a:pPr>
            <a:r>
              <a:rPr lang="en-ZA" sz="1500" dirty="0">
                <a:solidFill>
                  <a:schemeClr val="tx2">
                    <a:lumMod val="75000"/>
                  </a:schemeClr>
                </a:solidFill>
              </a:rPr>
              <a:t>Review and stabilize switchboard infrastructure</a:t>
            </a:r>
          </a:p>
          <a:p>
            <a:pPr>
              <a:lnSpc>
                <a:spcPct val="90000"/>
              </a:lnSpc>
            </a:pPr>
            <a:r>
              <a:rPr lang="en-ZA" sz="1500" dirty="0">
                <a:solidFill>
                  <a:schemeClr val="tx2">
                    <a:lumMod val="75000"/>
                  </a:schemeClr>
                </a:solidFill>
              </a:rPr>
              <a:t>Increase basket availability to balance against trolley count</a:t>
            </a:r>
          </a:p>
          <a:p>
            <a:pPr>
              <a:lnSpc>
                <a:spcPct val="90000"/>
              </a:lnSpc>
            </a:pPr>
            <a:r>
              <a:rPr lang="en-ZA" sz="1500" dirty="0">
                <a:solidFill>
                  <a:schemeClr val="tx2">
                    <a:lumMod val="75000"/>
                  </a:schemeClr>
                </a:solidFill>
              </a:rPr>
              <a:t>Conduct store layout review in Clothing to address space challenges</a:t>
            </a:r>
          </a:p>
          <a:p>
            <a:pPr>
              <a:lnSpc>
                <a:spcPct val="90000"/>
              </a:lnSpc>
            </a:pPr>
            <a:r>
              <a:rPr lang="en-ZA" sz="1500" dirty="0">
                <a:solidFill>
                  <a:schemeClr val="tx2">
                    <a:lumMod val="75000"/>
                  </a:schemeClr>
                </a:solidFill>
              </a:rPr>
              <a:t>Introduce proactive maintenance and quicker escalation protocol for unresolved faults</a:t>
            </a:r>
          </a:p>
          <a:p>
            <a:pPr>
              <a:lnSpc>
                <a:spcPct val="90000"/>
              </a:lnSpc>
            </a:pPr>
            <a:r>
              <a:rPr lang="en-ZA" sz="1500" dirty="0">
                <a:solidFill>
                  <a:schemeClr val="tx2">
                    <a:lumMod val="75000"/>
                  </a:schemeClr>
                </a:solidFill>
              </a:rPr>
              <a:t>Support Beauty’s request for new toiletry bag designs and improved display space</a:t>
            </a:r>
          </a:p>
          <a:p>
            <a:pPr>
              <a:lnSpc>
                <a:spcPct val="90000"/>
              </a:lnSpc>
            </a:pPr>
            <a:r>
              <a:rPr lang="en-ZA" sz="1500" dirty="0">
                <a:solidFill>
                  <a:schemeClr val="tx2">
                    <a:lumMod val="75000"/>
                  </a:schemeClr>
                </a:solidFill>
              </a:rPr>
              <a:t>Leverage Christmas trade in Home and Foods with bundled promotions and cross-selling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011823DB082B4A94F1D45091BEC22E" ma:contentTypeVersion="10" ma:contentTypeDescription="Create a new document." ma:contentTypeScope="" ma:versionID="682a0e6e23ddf09c63b63d90b6b337fc">
  <xsd:schema xmlns:xsd="http://www.w3.org/2001/XMLSchema" xmlns:xs="http://www.w3.org/2001/XMLSchema" xmlns:p="http://schemas.microsoft.com/office/2006/metadata/properties" xmlns:ns3="56db86e6-849e-4c45-8609-5f80e8108d27" targetNamespace="http://schemas.microsoft.com/office/2006/metadata/properties" ma:root="true" ma:fieldsID="eb6fc4e61938d2f1a04391284b69f9c4" ns3:_="">
    <xsd:import namespace="56db86e6-849e-4c45-8609-5f80e8108d2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db86e6-849e-4c45-8609-5f80e8108d2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6db86e6-849e-4c45-8609-5f80e8108d27" xsi:nil="true"/>
  </documentManagement>
</p:properties>
</file>

<file path=customXml/itemProps1.xml><?xml version="1.0" encoding="utf-8"?>
<ds:datastoreItem xmlns:ds="http://schemas.openxmlformats.org/officeDocument/2006/customXml" ds:itemID="{BAC1EF17-90D4-4F99-819A-669F0A7FFB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db86e6-849e-4c45-8609-5f80e8108d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9C38D9-DDB5-4B7D-84A4-DB1BE87010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822867-6805-4A9C-BDA6-28FD1F11BF85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56db86e6-849e-4c45-8609-5f80e8108d27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264</TotalTime>
  <Words>504</Words>
  <Application>Microsoft Office PowerPoint</Application>
  <PresentationFormat>On-screen Show (4:3)</PresentationFormat>
  <Paragraphs>62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Century Gothic</vt:lpstr>
      <vt:lpstr>Wingdings</vt:lpstr>
      <vt:lpstr>Wingdings 3</vt:lpstr>
      <vt:lpstr>Wisp</vt:lpstr>
      <vt:lpstr>Store Visit: Canal Walk, Century City</vt:lpstr>
      <vt:lpstr>Problem Statement</vt:lpstr>
      <vt:lpstr>Fashion</vt:lpstr>
      <vt:lpstr>Store Experience (Fashion)</vt:lpstr>
      <vt:lpstr>Beauty</vt:lpstr>
      <vt:lpstr>Store Experience </vt:lpstr>
      <vt:lpstr>Home</vt:lpstr>
      <vt:lpstr>Store Experience </vt:lpstr>
      <vt:lpstr>Foods (Operational Issues)</vt:lpstr>
      <vt:lpstr>Store Experience </vt:lpstr>
      <vt:lpstr>Key Stats</vt:lpstr>
      <vt:lpstr>Key Challenges (Summary)</vt:lpstr>
      <vt:lpstr>Recommendations /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Anda Matomela</dc:creator>
  <cp:keywords/>
  <dc:description>generated using python-pptx</dc:description>
  <cp:lastModifiedBy>Anda Matomela</cp:lastModifiedBy>
  <cp:revision>3</cp:revision>
  <dcterms:created xsi:type="dcterms:W3CDTF">2013-01-27T09:14:16Z</dcterms:created>
  <dcterms:modified xsi:type="dcterms:W3CDTF">2025-10-01T12:46:12Z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0x01010099011823DB082B4A94F1D45091BEC22E</vt:lpwstr>
  </property>
</Properties>
</file>